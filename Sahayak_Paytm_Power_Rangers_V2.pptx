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B5BEC5A5-79B7-D57E-37E3-ECE6D0956900}">
          <p14:sldIdLst>
            <p14:sldId id="256"/>
            <p14:sldId id="257"/>
            <p14:sldId id="258"/>
            <p14:sldId id="259"/>
            <p14:sldId id="260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</c:v>
                </c:pt>
              </c:strCache>
            </c:strRef>
          </c:tx>
          <c:spPr>
            <a:solidFill>
              <a:srgbClr val="8EA0B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40E-46CD-8F37-33BB2171F29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40E-46CD-8F37-33BB2171F29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C40E-46CD-8F37-33BB2171F295}"/>
              </c:ext>
            </c:extLst>
          </c:dPt>
          <c:dPt>
            <c:idx val="3"/>
            <c:invertIfNegative val="0"/>
            <c:bubble3D val="0"/>
            <c:spPr>
              <a:solidFill>
                <a:srgbClr val="C9A9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C40E-46CD-8F37-33BB2171F295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7F3E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Registered merchants</c:v>
                </c:pt>
                <c:pt idx="1">
                  <c:v>Device merchants</c:v>
                </c:pt>
                <c:pt idx="2">
                  <c:v>Merchant GMV</c:v>
                </c:pt>
                <c:pt idx="3">
                  <c:v>Sales &amp; service cost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21</c:v>
                </c:pt>
                <c:pt idx="2">
                  <c:v>31</c:v>
                </c:pt>
                <c:pt idx="3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CF-1549-B06F-254D66AFC6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7F3E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D002F-0CB8-D344-A8CE-B5A7BBE31A8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A53C0-2DA7-2144-9BEB-57AA7BECF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9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an AI teammate that resolves merchant issues end to end and escalates only when it should.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Paytm's own Q1 FY27 numbers: sales and service cost grew 27% against 12% growth in registered merchants. Paytm says it is building AI agents for merchant servicing.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stages. Stress that handoff to a human is a designed feature,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guardrail layer and that the backend re-checks every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points: it acts, it is safe with money, it escalates well, and it is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are design targets, to be validated by the eval harness. Replace with real numbers once eval.py has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Save, earn, scale. Close with the pilot path: start narrow, keep humans approving money actions, widen as metrics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371600"/>
            <a:ext cx="62179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3716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bg1"/>
                </a:solidFill>
              </a:rPr>
              <a:t>Sahayak</a:t>
            </a:r>
            <a:endParaRPr lang="en-US" sz="7200" dirty="0"/>
          </a:p>
        </p:txBody>
      </p:sp>
      <p:sp>
        <p:nvSpPr>
          <p:cNvPr id="3" name="Kicker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PAYTM AI HACKATHON  |  TRACK 3</a:t>
            </a:r>
            <a:endParaRPr lang="en-US" sz="1200" dirty="0"/>
          </a:p>
        </p:txBody>
      </p:sp>
      <p:sp>
        <p:nvSpPr>
          <p:cNvPr id="5" name="Tagline"/>
          <p:cNvSpPr txBox="1"/>
          <p:nvPr/>
        </p:nvSpPr>
        <p:spPr>
          <a:xfrm>
            <a:off x="731520" y="27432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i="1" dirty="0">
                <a:solidFill>
                  <a:schemeClr val="bg2"/>
                </a:solidFill>
              </a:rPr>
              <a:t>The AI Teammate That Doesn't Just Answer — It Gets the Job Done.</a:t>
            </a:r>
            <a:endParaRPr lang="en-US" sz="2600" dirty="0"/>
          </a:p>
        </p:txBody>
      </p:sp>
      <p:sp>
        <p:nvSpPr>
          <p:cNvPr id="6" name="Track"/>
          <p:cNvSpPr txBox="1"/>
          <p:nvPr/>
        </p:nvSpPr>
        <p:spPr>
          <a:xfrm>
            <a:off x="731520" y="41605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Track 3: Autonomous AI Teammates  ·  Powered by Sarvam AI</a:t>
            </a:r>
            <a:endParaRPr lang="en-US" sz="1500" dirty="0"/>
          </a:p>
        </p:txBody>
      </p:sp>
      <p:sp>
        <p:nvSpPr>
          <p:cNvPr id="7" name="Team"/>
          <p:cNvSpPr txBox="1"/>
          <p:nvPr/>
        </p:nvSpPr>
        <p:spPr>
          <a:xfrm>
            <a:off x="73152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Team Paytm Power Rangers</a:t>
            </a:r>
            <a:endParaRPr lang="en-US" sz="1600" dirty="0"/>
          </a:p>
        </p:txBody>
      </p:sp>
      <p:sp>
        <p:nvSpPr>
          <p:cNvPr id="8" name="Members"/>
          <p:cNvSpPr txBox="1"/>
          <p:nvPr/>
        </p:nvSpPr>
        <p:spPr>
          <a:xfrm>
            <a:off x="731520" y="5715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Lankipalli Tharun  |  Radhika Tenali</a:t>
            </a:r>
            <a:endParaRPr lang="en-US" sz="1500" dirty="0"/>
          </a:p>
        </p:txBody>
      </p:sp>
      <p:sp>
        <p:nvSpPr>
          <p:cNvPr id="9" name="Call card"/>
          <p:cNvSpPr/>
          <p:nvPr/>
        </p:nvSpPr>
        <p:spPr>
          <a:xfrm>
            <a:off x="7406640" y="822960"/>
            <a:ext cx="4206240" cy="5303520"/>
          </a:xfrm>
          <a:prstGeom prst="roundRect">
            <a:avLst>
              <a:gd name="adj" fmla="val 2174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Call label"/>
          <p:cNvSpPr txBox="1"/>
          <p:nvPr/>
        </p:nvSpPr>
        <p:spPr>
          <a:xfrm>
            <a:off x="76809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LIVE CALL — CS &amp; SALES  |  TWO WORKFLOWS, ZERO HUMANS</a:t>
            </a:r>
            <a:endParaRPr lang="en-US" sz="1100" dirty="0"/>
          </a:p>
        </p:txBody>
      </p:sp>
      <p:sp>
        <p:nvSpPr>
          <p:cNvPr id="11" name="Merchant bubble"/>
          <p:cNvSpPr/>
          <p:nvPr/>
        </p:nvSpPr>
        <p:spPr>
          <a:xfrm>
            <a:off x="7680960" y="1600200"/>
            <a:ext cx="310896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2" name="Merchant says"/>
          <p:cNvSpPr txBox="1"/>
          <p:nvPr/>
        </p:nvSpPr>
        <p:spPr>
          <a:xfrm>
            <a:off x="786384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"Bhaiya, kal ka paisa abhi tak nahi aaya."</a:t>
            </a:r>
            <a:endParaRPr lang="en-US" sz="1400" dirty="0"/>
          </a:p>
        </p:txBody>
      </p:sp>
      <p:sp>
        <p:nvSpPr>
          <p:cNvPr id="13" name="Agent bubble"/>
          <p:cNvSpPr/>
          <p:nvPr/>
        </p:nvSpPr>
        <p:spPr>
          <a:xfrm>
            <a:off x="8138160" y="2743200"/>
            <a:ext cx="3108960" cy="1691640"/>
          </a:xfrm>
          <a:prstGeom prst="roundRect">
            <a:avLst>
              <a:gd name="adj" fmla="val 5405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Agent says"/>
          <p:cNvSpPr txBox="1"/>
          <p:nvPr/>
        </p:nvSpPr>
        <p:spPr>
          <a:xfrm>
            <a:off x="8321040" y="274320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"Settlement retry queued for 6 AM. Payment gateway confirmed. Aapko callback ki zaroorat nahi — done." ✅</a:t>
            </a:r>
            <a:endParaRPr lang="en-US" sz="1400" dirty="0"/>
          </a:p>
        </p:txBody>
      </p:sp>
      <p:sp>
        <p:nvSpPr>
          <p:cNvPr id="15" name="Call status"/>
          <p:cNvSpPr txBox="1"/>
          <p:nvPr/>
        </p:nvSpPr>
        <p:spPr>
          <a:xfrm>
            <a:off x="7680960" y="4754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DIAGNOSED  settlement delay — bank holiday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ACTION  retry queued · gateway confirmed · merchant notified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SALES    EMI due tomorrow — payment link sent proactively ✅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Merchant servicing is breaking under its own weight — and more agents is not the answer.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01 PROBLEM STATEMENT</a:t>
            </a:r>
            <a:endParaRPr lang="en-US" sz="1200" dirty="0"/>
          </a:p>
        </p:txBody>
      </p:sp>
      <p:sp>
        <p:nvSpPr>
          <p:cNvPr id="5" name="Chart card"/>
          <p:cNvSpPr/>
          <p:nvPr/>
        </p:nvSpPr>
        <p:spPr>
          <a:xfrm>
            <a:off x="548640" y="1600200"/>
            <a:ext cx="576072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6" name="Chart title"/>
          <p:cNvSpPr txBox="1"/>
          <p:nvPr/>
        </p:nvSpPr>
        <p:spPr>
          <a:xfrm>
            <a:off x="77724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Year-on-year growth, Q1 FY27 (Jun-26 vs Jun-25)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2103120"/>
          <a:ext cx="53035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tat 1"/>
          <p:cNvSpPr/>
          <p:nvPr/>
        </p:nvSpPr>
        <p:spPr>
          <a:xfrm>
            <a:off x="6583680" y="1600200"/>
            <a:ext cx="502920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9" name="Stat 1 number"/>
          <p:cNvSpPr txBox="1"/>
          <p:nvPr/>
        </p:nvSpPr>
        <p:spPr>
          <a:xfrm>
            <a:off x="6812280" y="16002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5.0 Cr</a:t>
            </a:r>
            <a:endParaRPr lang="en-US" sz="3000" dirty="0"/>
          </a:p>
        </p:txBody>
      </p:sp>
      <p:sp>
        <p:nvSpPr>
          <p:cNvPr id="10" name="Stat 1 text"/>
          <p:cNvSpPr txBox="1"/>
          <p:nvPr/>
        </p:nvSpPr>
        <p:spPr>
          <a:xfrm>
            <a:off x="8686800" y="16002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registered merchants on Paytm</a:t>
            </a:r>
            <a:endParaRPr lang="en-US" sz="1400" dirty="0"/>
          </a:p>
        </p:txBody>
      </p:sp>
      <p:sp>
        <p:nvSpPr>
          <p:cNvPr id="11" name="Stat 2"/>
          <p:cNvSpPr/>
          <p:nvPr/>
        </p:nvSpPr>
        <p:spPr>
          <a:xfrm>
            <a:off x="6583680" y="2720340"/>
            <a:ext cx="502920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2" name="Stat 2 number"/>
          <p:cNvSpPr txBox="1"/>
          <p:nvPr/>
        </p:nvSpPr>
        <p:spPr>
          <a:xfrm>
            <a:off x="6812280" y="272034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1.57 Cr</a:t>
            </a:r>
            <a:endParaRPr lang="en-US" sz="3000" dirty="0"/>
          </a:p>
        </p:txBody>
      </p:sp>
      <p:sp>
        <p:nvSpPr>
          <p:cNvPr id="13" name="Stat 2 text"/>
          <p:cNvSpPr txBox="1"/>
          <p:nvPr/>
        </p:nvSpPr>
        <p:spPr>
          <a:xfrm>
            <a:off x="8686800" y="27203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device-subscription merchants, up 27 lakh in a year</a:t>
            </a:r>
            <a:endParaRPr lang="en-US" sz="1400" dirty="0"/>
          </a:p>
        </p:txBody>
      </p:sp>
      <p:sp>
        <p:nvSpPr>
          <p:cNvPr id="14" name="Stat 3"/>
          <p:cNvSpPr/>
          <p:nvPr/>
        </p:nvSpPr>
        <p:spPr>
          <a:xfrm>
            <a:off x="6583680" y="3840480"/>
            <a:ext cx="502920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5" name="Stat 3 number"/>
          <p:cNvSpPr txBox="1"/>
          <p:nvPr/>
        </p:nvSpPr>
        <p:spPr>
          <a:xfrm>
            <a:off x="6812280" y="38404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₹339 Cr</a:t>
            </a:r>
            <a:endParaRPr lang="en-US" sz="3000" dirty="0"/>
          </a:p>
        </p:txBody>
      </p:sp>
      <p:sp>
        <p:nvSpPr>
          <p:cNvPr id="16" name="Stat 3 text"/>
          <p:cNvSpPr txBox="1"/>
          <p:nvPr/>
        </p:nvSpPr>
        <p:spPr>
          <a:xfrm>
            <a:off x="8686800" y="38404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sales &amp; service cost per quarter — growing faster than merchant base</a:t>
            </a:r>
            <a:endParaRPr lang="en-US" sz="1400" dirty="0"/>
          </a:p>
        </p:txBody>
      </p:sp>
      <p:sp>
        <p:nvSpPr>
          <p:cNvPr id="17" name="Pain 1"/>
          <p:cNvSpPr/>
          <p:nvPr/>
        </p:nvSpPr>
        <p:spPr>
          <a:xfrm>
            <a:off x="548640" y="502920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8" name="Pain 1 title"/>
          <p:cNvSpPr txBox="1"/>
          <p:nvPr/>
        </p:nvSpPr>
        <p:spPr>
          <a:xfrm>
            <a:off x="731520" y="5166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Settlement delays  (~40% of tickets)</a:t>
            </a:r>
            <a:endParaRPr lang="en-US" sz="1500" dirty="0"/>
          </a:p>
        </p:txBody>
      </p:sp>
      <p:sp>
        <p:nvSpPr>
          <p:cNvPr id="19" name="Pain 1 quote"/>
          <p:cNvSpPr txBox="1"/>
          <p:nvPr/>
        </p:nvSpPr>
        <p:spPr>
          <a:xfrm>
            <a:off x="731520" y="56464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“Kal ka paisa nahi aaya”</a:t>
            </a:r>
            <a:endParaRPr lang="en-US" sz="1300" dirty="0"/>
          </a:p>
        </p:txBody>
      </p:sp>
      <p:sp>
        <p:nvSpPr>
          <p:cNvPr id="20" name="Pain 2"/>
          <p:cNvSpPr/>
          <p:nvPr/>
        </p:nvSpPr>
        <p:spPr>
          <a:xfrm>
            <a:off x="3383280" y="502920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21" name="Pain 2 title"/>
          <p:cNvSpPr txBox="1"/>
          <p:nvPr/>
        </p:nvSpPr>
        <p:spPr>
          <a:xfrm>
            <a:off x="3566160" y="5166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Soundbox failures  (~25% of tickets)</a:t>
            </a:r>
            <a:endParaRPr lang="en-US" sz="1500" dirty="0"/>
          </a:p>
        </p:txBody>
      </p:sp>
      <p:sp>
        <p:nvSpPr>
          <p:cNvPr id="22" name="Pain 2 quote"/>
          <p:cNvSpPr txBox="1"/>
          <p:nvPr/>
        </p:nvSpPr>
        <p:spPr>
          <a:xfrm>
            <a:off x="3566160" y="56464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“Soundbox bol nahi raha”</a:t>
            </a:r>
            <a:endParaRPr lang="en-US" sz="1300" dirty="0"/>
          </a:p>
        </p:txBody>
      </p:sp>
      <p:sp>
        <p:nvSpPr>
          <p:cNvPr id="23" name="Pain 3"/>
          <p:cNvSpPr/>
          <p:nvPr/>
        </p:nvSpPr>
        <p:spPr>
          <a:xfrm>
            <a:off x="6217920" y="502920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24" name="Pain 3 title"/>
          <p:cNvSpPr txBox="1"/>
          <p:nvPr/>
        </p:nvSpPr>
        <p:spPr>
          <a:xfrm>
            <a:off x="6400800" y="5166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Failed payments  (~20% of tickets)</a:t>
            </a:r>
            <a:endParaRPr lang="en-US" sz="1500" dirty="0"/>
          </a:p>
        </p:txBody>
      </p:sp>
      <p:sp>
        <p:nvSpPr>
          <p:cNvPr id="25" name="Pain 3 quote"/>
          <p:cNvSpPr txBox="1"/>
          <p:nvPr/>
        </p:nvSpPr>
        <p:spPr>
          <a:xfrm>
            <a:off x="6400800" y="5610013"/>
            <a:ext cx="2194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“Paise kat gaye, mujhe nahi mile”</a:t>
            </a:r>
            <a:endParaRPr lang="en-US" sz="1300" dirty="0"/>
          </a:p>
        </p:txBody>
      </p:sp>
      <p:sp>
        <p:nvSpPr>
          <p:cNvPr id="26" name="Pain 4"/>
          <p:cNvSpPr/>
          <p:nvPr/>
        </p:nvSpPr>
        <p:spPr>
          <a:xfrm>
            <a:off x="9052560" y="502920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27" name="Pain 4 title"/>
          <p:cNvSpPr txBox="1"/>
          <p:nvPr/>
        </p:nvSpPr>
        <p:spPr>
          <a:xfrm>
            <a:off x="9235440" y="5166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EMI &amp; KYC blocks  (~15% of tickets)</a:t>
            </a:r>
            <a:endParaRPr lang="en-US" sz="1500" dirty="0"/>
          </a:p>
        </p:txBody>
      </p:sp>
      <p:sp>
        <p:nvSpPr>
          <p:cNvPr id="28" name="Pain 4 quote"/>
          <p:cNvSpPr txBox="1"/>
          <p:nvPr/>
        </p:nvSpPr>
        <p:spPr>
          <a:xfrm>
            <a:off x="9265920" y="5646420"/>
            <a:ext cx="21945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/>
                </a:solidFill>
              </a:rPr>
              <a:t>“Mera account limit ho gaya”</a:t>
            </a:r>
            <a:endParaRPr lang="en-US" sz="1300" dirty="0"/>
          </a:p>
        </p:txBody>
      </p:sp>
      <p:sp>
        <p:nvSpPr>
          <p:cNvPr id="29" name="Source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Source: Paytm Q1 FY27 earnings release, 20 Jul 2026.  |  Hiring more agents scales cost, not outcomes. Sahayak breaks this curve.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One AI teammate — end-to-end ownership across customer service AND sales.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02  PROPOSED SOLUTION</a:t>
            </a:r>
            <a:endParaRPr lang="en-US" sz="1200" dirty="0"/>
          </a:p>
        </p:txBody>
      </p:sp>
      <p:sp>
        <p:nvSpPr>
          <p:cNvPr id="5" name="Stage 1"/>
          <p:cNvSpPr/>
          <p:nvPr/>
        </p:nvSpPr>
        <p:spPr>
          <a:xfrm>
            <a:off x="548640" y="1600200"/>
            <a:ext cx="16459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6" name="Stage 1 no"/>
          <p:cNvSpPr txBox="1"/>
          <p:nvPr/>
        </p:nvSpPr>
        <p:spPr>
          <a:xfrm>
            <a:off x="68580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tage 1 label"/>
          <p:cNvSpPr txBox="1"/>
          <p:nvPr/>
        </p:nvSpPr>
        <p:spPr>
          <a:xfrm>
            <a:off x="6858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Listen</a:t>
            </a:r>
            <a:endParaRPr lang="en-US" sz="1500" dirty="0"/>
          </a:p>
        </p:txBody>
      </p:sp>
      <p:sp>
        <p:nvSpPr>
          <p:cNvPr id="8" name="Stage 1 caption"/>
          <p:cNvSpPr txBox="1"/>
          <p:nvPr/>
        </p:nvSpPr>
        <p:spPr>
          <a:xfrm>
            <a:off x="685800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Voice in: Hindi, Kannada, English</a:t>
            </a:r>
            <a:endParaRPr lang="en-US" sz="1200" dirty="0"/>
          </a:p>
        </p:txBody>
      </p:sp>
      <p:sp>
        <p:nvSpPr>
          <p:cNvPr id="9" name="Arrow 1"/>
          <p:cNvSpPr txBox="1"/>
          <p:nvPr/>
        </p:nvSpPr>
        <p:spPr>
          <a:xfrm>
            <a:off x="2194560" y="1600200"/>
            <a:ext cx="237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10" name="Stage 2"/>
          <p:cNvSpPr/>
          <p:nvPr/>
        </p:nvSpPr>
        <p:spPr>
          <a:xfrm>
            <a:off x="2432304" y="1600200"/>
            <a:ext cx="16459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1" name="Stage 2 no"/>
          <p:cNvSpPr txBox="1"/>
          <p:nvPr/>
        </p:nvSpPr>
        <p:spPr>
          <a:xfrm>
            <a:off x="2569464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Stage 2 label"/>
          <p:cNvSpPr txBox="1"/>
          <p:nvPr/>
        </p:nvSpPr>
        <p:spPr>
          <a:xfrm>
            <a:off x="2569464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Diagnose</a:t>
            </a:r>
            <a:endParaRPr lang="en-US" sz="1500" dirty="0"/>
          </a:p>
        </p:txBody>
      </p:sp>
      <p:sp>
        <p:nvSpPr>
          <p:cNvPr id="13" name="Stage 2 caption"/>
          <p:cNvSpPr txBox="1"/>
          <p:nvPr/>
        </p:nvSpPr>
        <p:spPr>
          <a:xfrm>
            <a:off x="2569464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Classify the issue, score confidence</a:t>
            </a:r>
            <a:endParaRPr lang="en-US" sz="1200" dirty="0"/>
          </a:p>
        </p:txBody>
      </p:sp>
      <p:sp>
        <p:nvSpPr>
          <p:cNvPr id="14" name="Arrow 2"/>
          <p:cNvSpPr txBox="1"/>
          <p:nvPr/>
        </p:nvSpPr>
        <p:spPr>
          <a:xfrm>
            <a:off x="4078224" y="1600200"/>
            <a:ext cx="237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15" name="Stage 3"/>
          <p:cNvSpPr/>
          <p:nvPr/>
        </p:nvSpPr>
        <p:spPr>
          <a:xfrm>
            <a:off x="4315968" y="1600200"/>
            <a:ext cx="16459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6" name="Stage 3 no"/>
          <p:cNvSpPr txBox="1"/>
          <p:nvPr/>
        </p:nvSpPr>
        <p:spPr>
          <a:xfrm>
            <a:off x="4453128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Stage 3 label"/>
          <p:cNvSpPr txBox="1"/>
          <p:nvPr/>
        </p:nvSpPr>
        <p:spPr>
          <a:xfrm>
            <a:off x="4453128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Fetch context</a:t>
            </a:r>
            <a:endParaRPr lang="en-US" sz="1500" dirty="0"/>
          </a:p>
        </p:txBody>
      </p:sp>
      <p:sp>
        <p:nvSpPr>
          <p:cNvPr id="18" name="Stage 3 caption"/>
          <p:cNvSpPr txBox="1"/>
          <p:nvPr/>
        </p:nvSpPr>
        <p:spPr>
          <a:xfrm>
            <a:off x="4453128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Settlement, device, loan, CRM &amp; sales data — 6 systems</a:t>
            </a:r>
            <a:endParaRPr lang="en-US" sz="1200" dirty="0"/>
          </a:p>
        </p:txBody>
      </p:sp>
      <p:sp>
        <p:nvSpPr>
          <p:cNvPr id="19" name="Arrow 3"/>
          <p:cNvSpPr txBox="1"/>
          <p:nvPr/>
        </p:nvSpPr>
        <p:spPr>
          <a:xfrm>
            <a:off x="5961888" y="1600200"/>
            <a:ext cx="237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20" name="Stage 4"/>
          <p:cNvSpPr/>
          <p:nvPr/>
        </p:nvSpPr>
        <p:spPr>
          <a:xfrm>
            <a:off x="6199632" y="1600200"/>
            <a:ext cx="16459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Stage 4 no"/>
          <p:cNvSpPr txBox="1"/>
          <p:nvPr/>
        </p:nvSpPr>
        <p:spPr>
          <a:xfrm>
            <a:off x="6336792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Stage 4 label"/>
          <p:cNvSpPr txBox="1"/>
          <p:nvPr/>
        </p:nvSpPr>
        <p:spPr>
          <a:xfrm>
            <a:off x="6336792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Act</a:t>
            </a:r>
            <a:endParaRPr lang="en-US" sz="1500" dirty="0"/>
          </a:p>
        </p:txBody>
      </p:sp>
      <p:sp>
        <p:nvSpPr>
          <p:cNvPr id="23" name="Stage 4 caption"/>
          <p:cNvSpPr txBox="1"/>
          <p:nvPr/>
        </p:nvSpPr>
        <p:spPr>
          <a:xfrm>
            <a:off x="6336792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Multi-system action within guardrails</a:t>
            </a:r>
            <a:endParaRPr lang="en-US" sz="1200" dirty="0"/>
          </a:p>
        </p:txBody>
      </p:sp>
      <p:sp>
        <p:nvSpPr>
          <p:cNvPr id="24" name="Arrow 4"/>
          <p:cNvSpPr txBox="1"/>
          <p:nvPr/>
        </p:nvSpPr>
        <p:spPr>
          <a:xfrm>
            <a:off x="7845552" y="1600200"/>
            <a:ext cx="237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25" name="Stage 5"/>
          <p:cNvSpPr/>
          <p:nvPr/>
        </p:nvSpPr>
        <p:spPr>
          <a:xfrm>
            <a:off x="8083296" y="1600200"/>
            <a:ext cx="16459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26" name="Stage 5 no"/>
          <p:cNvSpPr txBox="1"/>
          <p:nvPr/>
        </p:nvSpPr>
        <p:spPr>
          <a:xfrm>
            <a:off x="8220456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Stage 5 label"/>
          <p:cNvSpPr txBox="1"/>
          <p:nvPr/>
        </p:nvSpPr>
        <p:spPr>
          <a:xfrm>
            <a:off x="8220456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Verify</a:t>
            </a:r>
            <a:endParaRPr lang="en-US" sz="1500" dirty="0"/>
          </a:p>
        </p:txBody>
      </p:sp>
      <p:sp>
        <p:nvSpPr>
          <p:cNvPr id="28" name="Stage 5 caption"/>
          <p:cNvSpPr txBox="1"/>
          <p:nvPr/>
        </p:nvSpPr>
        <p:spPr>
          <a:xfrm>
            <a:off x="8220456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Check the fix actually landed</a:t>
            </a:r>
            <a:endParaRPr lang="en-US" sz="1200" dirty="0"/>
          </a:p>
        </p:txBody>
      </p:sp>
      <p:sp>
        <p:nvSpPr>
          <p:cNvPr id="29" name="Arrow 5"/>
          <p:cNvSpPr txBox="1"/>
          <p:nvPr/>
        </p:nvSpPr>
        <p:spPr>
          <a:xfrm>
            <a:off x="9729216" y="1600200"/>
            <a:ext cx="237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30" name="Stage 6"/>
          <p:cNvSpPr/>
          <p:nvPr/>
        </p:nvSpPr>
        <p:spPr>
          <a:xfrm>
            <a:off x="9966960" y="1600200"/>
            <a:ext cx="16459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31" name="Stage 6 no"/>
          <p:cNvSpPr txBox="1"/>
          <p:nvPr/>
        </p:nvSpPr>
        <p:spPr>
          <a:xfrm>
            <a:off x="1010412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Stage 6 label"/>
          <p:cNvSpPr txBox="1"/>
          <p:nvPr/>
        </p:nvSpPr>
        <p:spPr>
          <a:xfrm>
            <a:off x="1010412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Close or escalate</a:t>
            </a:r>
            <a:endParaRPr lang="en-US" sz="1500" dirty="0"/>
          </a:p>
        </p:txBody>
      </p:sp>
      <p:sp>
        <p:nvSpPr>
          <p:cNvPr id="33" name="Stage 6 caption"/>
          <p:cNvSpPr txBox="1"/>
          <p:nvPr/>
        </p:nvSpPr>
        <p:spPr>
          <a:xfrm>
            <a:off x="10104120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Resolved + audit logged, or full-context handoff to human</a:t>
            </a:r>
            <a:endParaRPr lang="en-US" sz="1200" dirty="0"/>
          </a:p>
        </p:txBody>
      </p:sp>
      <p:sp>
        <p:nvSpPr>
          <p:cNvPr id="34" name="Panel 1"/>
          <p:cNvSpPr/>
          <p:nvPr/>
        </p:nvSpPr>
        <p:spPr>
          <a:xfrm>
            <a:off x="548640" y="3474720"/>
            <a:ext cx="5394960" cy="265176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35" name="Panel 1 title"/>
          <p:cNvSpPr txBox="1"/>
          <p:nvPr/>
        </p:nvSpPr>
        <p:spPr>
          <a:xfrm>
            <a:off x="82296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Resolves on its own  —  CS &amp; Sales</a:t>
            </a:r>
            <a:endParaRPr lang="en-US" sz="1800" dirty="0"/>
          </a:p>
        </p:txBody>
      </p:sp>
      <p:sp>
        <p:nvSpPr>
          <p:cNvPr id="36" name="Panel 1 list"/>
          <p:cNvSpPr txBox="1"/>
          <p:nvPr/>
        </p:nvSpPr>
        <p:spPr>
          <a:xfrm>
            <a:off x="822960" y="41605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CS: Retries failed settlements, confirms with gateway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CS: Raises Soundbox replacements, gives tracking info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CS: Re-syncs missing transactions across systems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CS: Sends payment, EMI and KYC links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Sales: Proactive EMI reminders + payment link delivery</a:t>
            </a:r>
            <a:endParaRPr lang="en-US" sz="1500" dirty="0"/>
          </a:p>
        </p:txBody>
      </p:sp>
      <p:sp>
        <p:nvSpPr>
          <p:cNvPr id="37" name="Panel 2"/>
          <p:cNvSpPr/>
          <p:nvPr/>
        </p:nvSpPr>
        <p:spPr>
          <a:xfrm>
            <a:off x="6217920" y="3474720"/>
            <a:ext cx="5394960" cy="265176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38" name="Panel 2 title"/>
          <p:cNvSpPr txBox="1"/>
          <p:nvPr/>
        </p:nvSpPr>
        <p:spPr>
          <a:xfrm>
            <a:off x="649224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Sahayak knows when NOT to act — that's a feature, not a fallback</a:t>
            </a:r>
            <a:endParaRPr lang="en-US" sz="1800" dirty="0"/>
          </a:p>
        </p:txBody>
      </p:sp>
      <p:sp>
        <p:nvSpPr>
          <p:cNvPr id="39" name="Panel 2 list"/>
          <p:cNvSpPr txBox="1"/>
          <p:nvPr/>
        </p:nvSpPr>
        <p:spPr>
          <a:xfrm>
            <a:off x="6522720" y="43434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Fraud flag or unverified caller identity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Transaction above ₹50,000 hard limit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Active dispute, risk hold or hardship case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Distressed caller or confidence below threshold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Five layers — Sarvam AI at the voice, safety at the core, six Paytm systems in scope.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kern="0" spc="300" dirty="0">
                <a:solidFill>
                  <a:schemeClr val="accent1"/>
                </a:solidFill>
              </a:rPr>
              <a:t>03 TECHNOLOGY / TECH STACK USED</a:t>
            </a:r>
            <a:endParaRPr lang="en-US" sz="1200" dirty="0"/>
          </a:p>
        </p:txBody>
      </p:sp>
      <p:sp>
        <p:nvSpPr>
          <p:cNvPr id="5" name="Layer 1 label"/>
          <p:cNvSpPr/>
          <p:nvPr/>
        </p:nvSpPr>
        <p:spPr>
          <a:xfrm>
            <a:off x="548640" y="1600200"/>
            <a:ext cx="27432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6" name="Layer 1 name"/>
          <p:cNvSpPr txBox="1"/>
          <p:nvPr/>
        </p:nvSpPr>
        <p:spPr>
          <a:xfrm>
            <a:off x="777240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Sarvam AI  —  Voice Layer  ★ Official AI Partner</a:t>
            </a:r>
            <a:endParaRPr lang="en-US" sz="1700" dirty="0"/>
          </a:p>
        </p:txBody>
      </p:sp>
      <p:sp>
        <p:nvSpPr>
          <p:cNvPr id="7" name="Layer 1 body"/>
          <p:cNvSpPr/>
          <p:nvPr/>
        </p:nvSpPr>
        <p:spPr>
          <a:xfrm>
            <a:off x="3474720" y="1600200"/>
            <a:ext cx="813816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8" name="Layer 1 text"/>
          <p:cNvSpPr txBox="1"/>
          <p:nvPr/>
        </p:nvSpPr>
        <p:spPr>
          <a:xfrm>
            <a:off x="3703320" y="1600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Speech-to-text and text-to-speech for Hindi, Kannada and English. Purpose-built for Indian merchant speech patterns. Sub-2s latency per turn.</a:t>
            </a:r>
            <a:endParaRPr lang="en-US" sz="1400" dirty="0"/>
          </a:p>
        </p:txBody>
      </p:sp>
      <p:sp>
        <p:nvSpPr>
          <p:cNvPr id="9" name="Layer 2 label"/>
          <p:cNvSpPr/>
          <p:nvPr/>
        </p:nvSpPr>
        <p:spPr>
          <a:xfrm>
            <a:off x="548640" y="2532888"/>
            <a:ext cx="27432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0" name="Layer 2 name"/>
          <p:cNvSpPr txBox="1"/>
          <p:nvPr/>
        </p:nvSpPr>
        <p:spPr>
          <a:xfrm>
            <a:off x="777240" y="253288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Agent Core  —  Sarvam AI LLM + Tool Calling</a:t>
            </a:r>
            <a:endParaRPr lang="en-US" sz="1700" dirty="0"/>
          </a:p>
        </p:txBody>
      </p:sp>
      <p:sp>
        <p:nvSpPr>
          <p:cNvPr id="11" name="Layer 2 body"/>
          <p:cNvSpPr/>
          <p:nvPr/>
        </p:nvSpPr>
        <p:spPr>
          <a:xfrm>
            <a:off x="3474720" y="2532888"/>
            <a:ext cx="813816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2" name="Layer 2 text"/>
          <p:cNvSpPr txBox="1"/>
          <p:nvPr/>
        </p:nvSpPr>
        <p:spPr>
          <a:xfrm>
            <a:off x="3703320" y="253288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State-machine loop: Diagnose → Decide → Act → Verify. Confidence score on every step. Explicit reasoning trace — not a black box.</a:t>
            </a:r>
            <a:endParaRPr lang="en-US" sz="1400" dirty="0"/>
          </a:p>
        </p:txBody>
      </p:sp>
      <p:sp>
        <p:nvSpPr>
          <p:cNvPr id="13" name="Layer 3 label"/>
          <p:cNvSpPr/>
          <p:nvPr/>
        </p:nvSpPr>
        <p:spPr>
          <a:xfrm>
            <a:off x="548640" y="3465576"/>
            <a:ext cx="274320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Layer 3 name"/>
          <p:cNvSpPr txBox="1"/>
          <p:nvPr/>
        </p:nvSpPr>
        <p:spPr>
          <a:xfrm>
            <a:off x="777240" y="346557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Guardrail Layer  —  Safety by Design</a:t>
            </a:r>
            <a:endParaRPr lang="en-US" sz="1700" dirty="0"/>
          </a:p>
        </p:txBody>
      </p:sp>
      <p:sp>
        <p:nvSpPr>
          <p:cNvPr id="15" name="Layer 3 body"/>
          <p:cNvSpPr/>
          <p:nvPr/>
        </p:nvSpPr>
        <p:spPr>
          <a:xfrm>
            <a:off x="3474720" y="3465576"/>
            <a:ext cx="813816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6" name="Layer 3 text"/>
          <p:cNvSpPr txBox="1"/>
          <p:nvPr/>
        </p:nvSpPr>
        <p:spPr>
          <a:xfrm>
            <a:off x="3703320" y="346557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₹50K hard cap on financial actions · Caller ID verification before acting · Fraud flag pre-check · Append-only audit log · Confidence threshold gate</a:t>
            </a:r>
            <a:endParaRPr lang="en-US" sz="1400" dirty="0"/>
          </a:p>
        </p:txBody>
      </p:sp>
      <p:sp>
        <p:nvSpPr>
          <p:cNvPr id="17" name="Layer 4 label"/>
          <p:cNvSpPr/>
          <p:nvPr/>
        </p:nvSpPr>
        <p:spPr>
          <a:xfrm>
            <a:off x="548640" y="4398264"/>
            <a:ext cx="27432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8" name="Layer 4 name"/>
          <p:cNvSpPr txBox="1"/>
          <p:nvPr/>
        </p:nvSpPr>
        <p:spPr>
          <a:xfrm>
            <a:off x="777240" y="439826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Paytm System Integrations  —  6 API Surfaces</a:t>
            </a:r>
            <a:endParaRPr lang="en-US" sz="1700" dirty="0"/>
          </a:p>
        </p:txBody>
      </p:sp>
      <p:sp>
        <p:nvSpPr>
          <p:cNvPr id="19" name="Layer 4 body"/>
          <p:cNvSpPr/>
          <p:nvPr/>
        </p:nvSpPr>
        <p:spPr>
          <a:xfrm>
            <a:off x="3474720" y="4398264"/>
            <a:ext cx="813816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20" name="Layer 4 text"/>
          <p:cNvSpPr txBox="1"/>
          <p:nvPr/>
        </p:nvSpPr>
        <p:spPr>
          <a:xfrm>
            <a:off x="3703320" y="439826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Merchant profile &amp; KYC · Settlement &amp; payment gateway · Device &amp; logistics (Soundbox) · Loan &amp; EMI management · CRM &amp; ticketing · Sales outreach &amp; payment links</a:t>
            </a:r>
            <a:endParaRPr lang="en-US" sz="1400" dirty="0"/>
          </a:p>
        </p:txBody>
      </p:sp>
      <p:sp>
        <p:nvSpPr>
          <p:cNvPr id="21" name="Layer 5 label"/>
          <p:cNvSpPr/>
          <p:nvPr/>
        </p:nvSpPr>
        <p:spPr>
          <a:xfrm>
            <a:off x="548640" y="5330952"/>
            <a:ext cx="27432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22" name="Layer 5 name"/>
          <p:cNvSpPr txBox="1"/>
          <p:nvPr/>
        </p:nvSpPr>
        <p:spPr>
          <a:xfrm>
            <a:off x="777240" y="53309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Evaluation Harness  —  Designed Test Suite</a:t>
            </a:r>
            <a:endParaRPr lang="en-US" sz="1700" dirty="0"/>
          </a:p>
        </p:txBody>
      </p:sp>
      <p:sp>
        <p:nvSpPr>
          <p:cNvPr id="23" name="Layer 5 body"/>
          <p:cNvSpPr/>
          <p:nvPr/>
        </p:nvSpPr>
        <p:spPr>
          <a:xfrm>
            <a:off x="3474720" y="5330952"/>
            <a:ext cx="813816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24" name="Layer 5 text"/>
          <p:cNvSpPr txBox="1"/>
          <p:nvPr/>
        </p:nvSpPr>
        <p:spPr>
          <a:xfrm>
            <a:off x="3703320" y="5330952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Test scenarios covering CS + Sales workflows. Measures: resolution rate, escalation accuracy, zero unsafe actions, handoff completeness. To be demonstrated at the offline hackathon.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It acts across systems. It's safe. It escalates like a teammate. And it covers sales too.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kern="0" spc="300" dirty="0">
                <a:solidFill>
                  <a:schemeClr val="accent1"/>
                </a:solidFill>
              </a:rPr>
              <a:t>04 USP (UNIQUE SELLING PROPOSITION)</a:t>
            </a:r>
            <a:endParaRPr lang="en-US" sz="1200" dirty="0"/>
          </a:p>
        </p:txBody>
      </p:sp>
      <p:sp>
        <p:nvSpPr>
          <p:cNvPr id="5" name="USP card 1"/>
          <p:cNvSpPr/>
          <p:nvPr/>
        </p:nvSpPr>
        <p:spPr>
          <a:xfrm>
            <a:off x="548640" y="1600200"/>
            <a:ext cx="2560320" cy="374904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6" name="USP 1 no"/>
          <p:cNvSpPr txBox="1"/>
          <p:nvPr/>
        </p:nvSpPr>
        <p:spPr>
          <a:xfrm>
            <a:off x="82296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01</a:t>
            </a:r>
            <a:endParaRPr lang="en-US" sz="4400" dirty="0"/>
          </a:p>
        </p:txBody>
      </p:sp>
      <p:sp>
        <p:nvSpPr>
          <p:cNvPr id="7" name="USP 1 title"/>
          <p:cNvSpPr txBox="1"/>
          <p:nvPr/>
        </p:nvSpPr>
        <p:spPr>
          <a:xfrm>
            <a:off x="822960" y="2834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Acts Across Systems, Not Just One</a:t>
            </a:r>
            <a:endParaRPr lang="en-US" sz="2000" dirty="0"/>
          </a:p>
        </p:txBody>
      </p:sp>
      <p:sp>
        <p:nvSpPr>
          <p:cNvPr id="8" name="USP 1 text"/>
          <p:cNvSpPr txBox="1"/>
          <p:nvPr/>
        </p:nvSpPr>
        <p:spPr>
          <a:xfrm>
            <a:off x="822960" y="37490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Fetches data from 6 Paytm systems, takes action, and confirms the outcome — not a lookup, a resolution.</a:t>
            </a:r>
            <a:endParaRPr lang="en-US" sz="1400" dirty="0"/>
          </a:p>
        </p:txBody>
      </p:sp>
      <p:sp>
        <p:nvSpPr>
          <p:cNvPr id="9" name="USP card 2"/>
          <p:cNvSpPr/>
          <p:nvPr/>
        </p:nvSpPr>
        <p:spPr>
          <a:xfrm>
            <a:off x="3383280" y="1600200"/>
            <a:ext cx="2560320" cy="374904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0" name="USP 2 no"/>
          <p:cNvSpPr txBox="1"/>
          <p:nvPr/>
        </p:nvSpPr>
        <p:spPr>
          <a:xfrm>
            <a:off x="365760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02</a:t>
            </a:r>
            <a:endParaRPr lang="en-US" sz="4400" dirty="0"/>
          </a:p>
        </p:txBody>
      </p:sp>
      <p:sp>
        <p:nvSpPr>
          <p:cNvPr id="11" name="USP 2 title"/>
          <p:cNvSpPr txBox="1"/>
          <p:nvPr/>
        </p:nvSpPr>
        <p:spPr>
          <a:xfrm>
            <a:off x="3657600" y="2834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Safe With Every Rupee</a:t>
            </a:r>
            <a:endParaRPr lang="en-US" sz="2000" dirty="0"/>
          </a:p>
        </p:txBody>
      </p:sp>
      <p:sp>
        <p:nvSpPr>
          <p:cNvPr id="12" name="USP 2 text"/>
          <p:cNvSpPr txBox="1"/>
          <p:nvPr/>
        </p:nvSpPr>
        <p:spPr>
          <a:xfrm>
            <a:off x="3657600" y="37490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Caller verified, fraud checked, amount capped, action confirmed — before every financial move. Audit-logged. Reversible where possible.</a:t>
            </a:r>
            <a:endParaRPr lang="en-US" sz="1400" dirty="0"/>
          </a:p>
        </p:txBody>
      </p:sp>
      <p:sp>
        <p:nvSpPr>
          <p:cNvPr id="13" name="USP card 3"/>
          <p:cNvSpPr/>
          <p:nvPr/>
        </p:nvSpPr>
        <p:spPr>
          <a:xfrm>
            <a:off x="6217920" y="1600200"/>
            <a:ext cx="2560320" cy="374904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4" name="USP 3 no"/>
          <p:cNvSpPr txBox="1"/>
          <p:nvPr/>
        </p:nvSpPr>
        <p:spPr>
          <a:xfrm>
            <a:off x="649224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03</a:t>
            </a:r>
            <a:endParaRPr lang="en-US" sz="4400" dirty="0"/>
          </a:p>
        </p:txBody>
      </p:sp>
      <p:sp>
        <p:nvSpPr>
          <p:cNvPr id="15" name="USP 3 title"/>
          <p:cNvSpPr txBox="1"/>
          <p:nvPr/>
        </p:nvSpPr>
        <p:spPr>
          <a:xfrm>
            <a:off x="6492240" y="2834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Escalates Like a Senior Teammate</a:t>
            </a:r>
            <a:endParaRPr lang="en-US" sz="2000" dirty="0"/>
          </a:p>
        </p:txBody>
      </p:sp>
      <p:sp>
        <p:nvSpPr>
          <p:cNvPr id="16" name="USP 3 text"/>
          <p:cNvSpPr txBox="1"/>
          <p:nvPr/>
        </p:nvSpPr>
        <p:spPr>
          <a:xfrm>
            <a:off x="6492240" y="37490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Human receives: issue summary, what Sahayak tried, next recommended action, full transcript. The human never starts from zero.</a:t>
            </a:r>
            <a:endParaRPr lang="en-US" sz="1400" dirty="0"/>
          </a:p>
        </p:txBody>
      </p:sp>
      <p:sp>
        <p:nvSpPr>
          <p:cNvPr id="17" name="USP card 4"/>
          <p:cNvSpPr/>
          <p:nvPr/>
        </p:nvSpPr>
        <p:spPr>
          <a:xfrm>
            <a:off x="9052560" y="1600200"/>
            <a:ext cx="2560320" cy="374904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8" name="USP 4 no"/>
          <p:cNvSpPr txBox="1"/>
          <p:nvPr/>
        </p:nvSpPr>
        <p:spPr>
          <a:xfrm>
            <a:off x="932688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04</a:t>
            </a:r>
            <a:endParaRPr lang="en-US" sz="4400" dirty="0"/>
          </a:p>
        </p:txBody>
      </p:sp>
      <p:sp>
        <p:nvSpPr>
          <p:cNvPr id="19" name="USP 4 title"/>
          <p:cNvSpPr txBox="1"/>
          <p:nvPr/>
        </p:nvSpPr>
        <p:spPr>
          <a:xfrm>
            <a:off x="9326880" y="2834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Covers Both Sales and Customer Service</a:t>
            </a:r>
            <a:endParaRPr lang="en-US" sz="2000" dirty="0"/>
          </a:p>
        </p:txBody>
      </p:sp>
      <p:sp>
        <p:nvSpPr>
          <p:cNvPr id="20" name="USP 4 text"/>
          <p:cNvSpPr txBox="1"/>
          <p:nvPr/>
        </p:nvSpPr>
        <p:spPr>
          <a:xfrm>
            <a:off x="9326880" y="37490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Handles inbound resolution (CS) and outbound proactive action (Sales) — EMI follow-up, payment nudges, upsell triggers — in one framework.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Measurable outcomes for merchants, Paytm, and support teams — across CS and Sales.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05  IMPACT AND BENEFITS</a:t>
            </a:r>
            <a:endParaRPr lang="en-US" sz="1200" dirty="0"/>
          </a:p>
        </p:txBody>
      </p:sp>
      <p:sp>
        <p:nvSpPr>
          <p:cNvPr id="5" name="Benefit card 1"/>
          <p:cNvSpPr/>
          <p:nvPr/>
        </p:nvSpPr>
        <p:spPr>
          <a:xfrm>
            <a:off x="548640" y="1600200"/>
            <a:ext cx="356616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6" name="Benefit 1 title"/>
          <p:cNvSpPr txBox="1"/>
          <p:nvPr/>
        </p:nvSpPr>
        <p:spPr>
          <a:xfrm>
            <a:off x="82296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Merchants</a:t>
            </a:r>
            <a:endParaRPr lang="en-US" sz="2000" dirty="0"/>
          </a:p>
        </p:txBody>
      </p:sp>
      <p:sp>
        <p:nvSpPr>
          <p:cNvPr id="7" name="Benefit 1 list"/>
          <p:cNvSpPr txBox="1"/>
          <p:nvPr/>
        </p:nvSpPr>
        <p:spPr>
          <a:xfrm>
            <a:off x="822960" y="22860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Issues resolved in seconds, in their own language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First-call resolution — no callbacks, no hold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Proactive sales touchpoints feel like service, not friction</a:t>
            </a:r>
            <a:endParaRPr lang="en-US" sz="1400" dirty="0"/>
          </a:p>
        </p:txBody>
      </p:sp>
      <p:sp>
        <p:nvSpPr>
          <p:cNvPr id="8" name="Benefit card 2"/>
          <p:cNvSpPr/>
          <p:nvPr/>
        </p:nvSpPr>
        <p:spPr>
          <a:xfrm>
            <a:off x="4297680" y="1600200"/>
            <a:ext cx="356616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9" name="Benefit 2 title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Paytm</a:t>
            </a:r>
            <a:endParaRPr lang="en-US" sz="2000" dirty="0"/>
          </a:p>
        </p:txBody>
      </p:sp>
      <p:sp>
        <p:nvSpPr>
          <p:cNvPr id="10" name="Benefit 2 list"/>
          <p:cNvSpPr txBox="1"/>
          <p:nvPr/>
        </p:nvSpPr>
        <p:spPr>
          <a:xfrm>
            <a:off x="4572000" y="22860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Servicing cost curve bends without matching headcount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Faster EMI follow-up protects loan collection performance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Proactive Soundbox resolution improves device retention</a:t>
            </a:r>
            <a:endParaRPr lang="en-US" sz="1400" dirty="0"/>
          </a:p>
        </p:txBody>
      </p:sp>
      <p:sp>
        <p:nvSpPr>
          <p:cNvPr id="11" name="Benefit card 3"/>
          <p:cNvSpPr/>
          <p:nvPr/>
        </p:nvSpPr>
        <p:spPr>
          <a:xfrm>
            <a:off x="8046720" y="1600200"/>
            <a:ext cx="3566160" cy="269748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2" name="Benefit 3 title"/>
          <p:cNvSpPr txBox="1"/>
          <p:nvPr/>
        </p:nvSpPr>
        <p:spPr>
          <a:xfrm>
            <a:off x="832104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Support teams</a:t>
            </a:r>
            <a:endParaRPr lang="en-US" sz="2000" dirty="0"/>
          </a:p>
        </p:txBody>
      </p:sp>
      <p:sp>
        <p:nvSpPr>
          <p:cNvPr id="13" name="Benefit 3 list"/>
          <p:cNvSpPr txBox="1"/>
          <p:nvPr/>
        </p:nvSpPr>
        <p:spPr>
          <a:xfrm>
            <a:off x="8321040" y="22860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Routine, repeatable tickets handled autonomously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Every escalated case arrives complete — no re-investigation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Human agents focus on complex, sensitive, high-value cases</a:t>
            </a:r>
            <a:endParaRPr lang="en-US" sz="1400" dirty="0"/>
          </a:p>
        </p:txBody>
      </p:sp>
      <p:sp>
        <p:nvSpPr>
          <p:cNvPr id="14" name="Targets label"/>
          <p:cNvSpPr txBox="1"/>
          <p:nvPr/>
        </p:nvSpPr>
        <p:spPr>
          <a:xfrm>
            <a:off x="54864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DESIGN TARGETS — VALIDATED AT OFFLINE HACKATHON  |  Sales + CS Coverage</a:t>
            </a:r>
            <a:endParaRPr lang="en-US" sz="1200" dirty="0"/>
          </a:p>
        </p:txBody>
      </p:sp>
      <p:sp>
        <p:nvSpPr>
          <p:cNvPr id="15" name="Target 1"/>
          <p:cNvSpPr/>
          <p:nvPr/>
        </p:nvSpPr>
        <p:spPr>
          <a:xfrm>
            <a:off x="548640" y="48920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arget 1 number"/>
          <p:cNvSpPr txBox="1"/>
          <p:nvPr/>
        </p:nvSpPr>
        <p:spPr>
          <a:xfrm>
            <a:off x="777240" y="4983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70%+</a:t>
            </a:r>
            <a:endParaRPr lang="en-US" sz="3200" dirty="0"/>
          </a:p>
        </p:txBody>
      </p:sp>
      <p:sp>
        <p:nvSpPr>
          <p:cNvPr id="17" name="Target 1 text"/>
          <p:cNvSpPr txBox="1"/>
          <p:nvPr/>
        </p:nvSpPr>
        <p:spPr>
          <a:xfrm>
            <a:off x="777240" y="5623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routine CS tickets resolved without human involvement</a:t>
            </a:r>
            <a:endParaRPr lang="en-US" sz="1300" dirty="0"/>
          </a:p>
        </p:txBody>
      </p:sp>
      <p:sp>
        <p:nvSpPr>
          <p:cNvPr id="18" name="Target 2"/>
          <p:cNvSpPr/>
          <p:nvPr/>
        </p:nvSpPr>
        <p:spPr>
          <a:xfrm>
            <a:off x="3383280" y="48920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arget 2 number"/>
          <p:cNvSpPr txBox="1"/>
          <p:nvPr/>
        </p:nvSpPr>
        <p:spPr>
          <a:xfrm>
            <a:off x="3611880" y="4983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</a:t>
            </a:r>
            <a:endParaRPr lang="en-US" sz="3200" dirty="0"/>
          </a:p>
        </p:txBody>
      </p:sp>
      <p:sp>
        <p:nvSpPr>
          <p:cNvPr id="20" name="Target 2 text"/>
          <p:cNvSpPr txBox="1"/>
          <p:nvPr/>
        </p:nvSpPr>
        <p:spPr>
          <a:xfrm>
            <a:off x="3611880" y="5623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unsafe money actions executed</a:t>
            </a:r>
            <a:endParaRPr lang="en-US" sz="1300" dirty="0"/>
          </a:p>
        </p:txBody>
      </p:sp>
      <p:sp>
        <p:nvSpPr>
          <p:cNvPr id="21" name="Target 3"/>
          <p:cNvSpPr/>
          <p:nvPr/>
        </p:nvSpPr>
        <p:spPr>
          <a:xfrm>
            <a:off x="6217920" y="48920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arget 3 number"/>
          <p:cNvSpPr txBox="1"/>
          <p:nvPr/>
        </p:nvSpPr>
        <p:spPr>
          <a:xfrm>
            <a:off x="6446520" y="4983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&lt; 2 s</a:t>
            </a:r>
            <a:endParaRPr lang="en-US" sz="3200" dirty="0"/>
          </a:p>
        </p:txBody>
      </p:sp>
      <p:sp>
        <p:nvSpPr>
          <p:cNvPr id="23" name="Target 3 text"/>
          <p:cNvSpPr txBox="1"/>
          <p:nvPr/>
        </p:nvSpPr>
        <p:spPr>
          <a:xfrm>
            <a:off x="6446520" y="5623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voice response latency per turn (Sarvam AI pipeline)</a:t>
            </a:r>
            <a:endParaRPr lang="en-US" sz="1300" dirty="0"/>
          </a:p>
        </p:txBody>
      </p:sp>
      <p:sp>
        <p:nvSpPr>
          <p:cNvPr id="24" name="Target 4"/>
          <p:cNvSpPr/>
          <p:nvPr/>
        </p:nvSpPr>
        <p:spPr>
          <a:xfrm>
            <a:off x="9052560" y="489204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arget 4 number"/>
          <p:cNvSpPr txBox="1"/>
          <p:nvPr/>
        </p:nvSpPr>
        <p:spPr>
          <a:xfrm>
            <a:off x="9281160" y="4983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100%</a:t>
            </a:r>
            <a:endParaRPr lang="en-US" sz="3200" dirty="0"/>
          </a:p>
        </p:txBody>
      </p:sp>
      <p:sp>
        <p:nvSpPr>
          <p:cNvPr id="26" name="Target 4 text"/>
          <p:cNvSpPr txBox="1"/>
          <p:nvPr/>
        </p:nvSpPr>
        <p:spPr>
          <a:xfrm>
            <a:off x="9281160" y="5623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of actions audit-logged — zero exceptions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A model that saves ₹339 Cr, protects merchant revenue, and scales beyond Paytm.</a:t>
            </a:r>
            <a:endParaRPr lang="en-US" sz="3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06  BUSINESS MODEL</a:t>
            </a:r>
            <a:endParaRPr lang="en-US" sz="1200" dirty="0"/>
          </a:p>
        </p:txBody>
      </p:sp>
      <p:sp>
        <p:nvSpPr>
          <p:cNvPr id="5" name="Model card 1"/>
          <p:cNvSpPr/>
          <p:nvPr/>
        </p:nvSpPr>
        <p:spPr>
          <a:xfrm>
            <a:off x="548640" y="1600200"/>
            <a:ext cx="3566160" cy="265176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6" name="Model 1 no"/>
          <p:cNvSpPr txBox="1"/>
          <p:nvPr/>
        </p:nvSpPr>
        <p:spPr>
          <a:xfrm>
            <a:off x="82296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Model 1 title"/>
          <p:cNvSpPr txBox="1"/>
          <p:nvPr/>
        </p:nvSpPr>
        <p:spPr>
          <a:xfrm>
            <a:off x="173736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Save</a:t>
            </a:r>
            <a:endParaRPr lang="en-US" sz="2400" dirty="0"/>
          </a:p>
        </p:txBody>
      </p:sp>
      <p:sp>
        <p:nvSpPr>
          <p:cNvPr id="8" name="Model 1 text"/>
          <p:cNvSpPr txBox="1"/>
          <p:nvPr/>
        </p:nvSpPr>
        <p:spPr>
          <a:xfrm>
            <a:off x="822960" y="2606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Paytm spends ₹339 Cr/quarter on sales &amp; service. Sahayak targets the highest-volume repeatable categories first — every routine ticket resolved autonomously bends the cost curve without reducing merchant service quality.</a:t>
            </a:r>
            <a:endParaRPr lang="en-US" sz="1400" dirty="0"/>
          </a:p>
        </p:txBody>
      </p:sp>
      <p:sp>
        <p:nvSpPr>
          <p:cNvPr id="9" name="Model card 2"/>
          <p:cNvSpPr/>
          <p:nvPr/>
        </p:nvSpPr>
        <p:spPr>
          <a:xfrm>
            <a:off x="4297680" y="1600200"/>
            <a:ext cx="3566160" cy="265176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0" name="Model 2 no"/>
          <p:cNvSpPr txBox="1"/>
          <p:nvPr/>
        </p:nvSpPr>
        <p:spPr>
          <a:xfrm>
            <a:off x="457200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Model 2 title"/>
          <p:cNvSpPr txBox="1"/>
          <p:nvPr/>
        </p:nvSpPr>
        <p:spPr>
          <a:xfrm>
            <a:off x="548640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Earn</a:t>
            </a:r>
            <a:endParaRPr lang="en-US" sz="2400" dirty="0"/>
          </a:p>
        </p:txBody>
      </p:sp>
      <p:sp>
        <p:nvSpPr>
          <p:cNvPr id="12" name="Model 2 text"/>
          <p:cNvSpPr txBox="1"/>
          <p:nvPr/>
        </p:nvSpPr>
        <p:spPr>
          <a:xfrm>
            <a:off x="4572000" y="2606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Proactive EMI follow-up, payment link nudges, and Soundbox retention recover merchant revenue that currently falls through overloaded support queues. Every resolved issue becomes a retention event.</a:t>
            </a:r>
            <a:endParaRPr lang="en-US" sz="1400" dirty="0"/>
          </a:p>
        </p:txBody>
      </p:sp>
      <p:sp>
        <p:nvSpPr>
          <p:cNvPr id="13" name="Model card 3"/>
          <p:cNvSpPr/>
          <p:nvPr/>
        </p:nvSpPr>
        <p:spPr>
          <a:xfrm>
            <a:off x="8046720" y="1600200"/>
            <a:ext cx="3566160" cy="265176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14" name="Model 3 no"/>
          <p:cNvSpPr txBox="1"/>
          <p:nvPr/>
        </p:nvSpPr>
        <p:spPr>
          <a:xfrm>
            <a:off x="832104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5" name="Model 3 title"/>
          <p:cNvSpPr txBox="1"/>
          <p:nvPr/>
        </p:nvSpPr>
        <p:spPr>
          <a:xfrm>
            <a:off x="92354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Scale</a:t>
            </a:r>
            <a:endParaRPr lang="en-US" sz="2400" dirty="0"/>
          </a:p>
        </p:txBody>
      </p:sp>
      <p:sp>
        <p:nvSpPr>
          <p:cNvPr id="16" name="Model 3 text"/>
          <p:cNvSpPr txBox="1"/>
          <p:nvPr/>
        </p:nvSpPr>
        <p:spPr>
          <a:xfrm>
            <a:off x="8321040" y="2606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same multilingual voice + multi-system action framework — built on Sarvam AI — is applicable to any fintech with a large merchant base. Sahayak becomes a B2B platform beyond Paytm.</a:t>
            </a:r>
            <a:endParaRPr lang="en-US" sz="1400" dirty="0"/>
          </a:p>
        </p:txBody>
      </p:sp>
      <p:sp>
        <p:nvSpPr>
          <p:cNvPr id="17" name="Pricing card"/>
          <p:cNvSpPr/>
          <p:nvPr/>
        </p:nvSpPr>
        <p:spPr>
          <a:xfrm>
            <a:off x="548640" y="4526280"/>
            <a:ext cx="1106424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Pricing"/>
          <p:cNvSpPr txBox="1"/>
          <p:nvPr/>
        </p:nvSpPr>
        <p:spPr>
          <a:xfrm>
            <a:off x="822960" y="4526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Pricing  Outcome-based: ₹5–15 per resolved ticket — Paytm pays only for results.  Market  5 Cr merchants × ₹10/ticket × 30% addressable = ₹150 Cr+ annual opportunity inside Paytm alone.  Pilot path  Start with Settlement + Soundbox · Human approval on every money action · Widen as metrics hold.</a:t>
            </a:r>
            <a:endParaRPr lang="en-US" sz="1600" dirty="0"/>
          </a:p>
        </p:txBody>
      </p:sp>
      <p:sp>
        <p:nvSpPr>
          <p:cNvPr id="19" name="Closing team"/>
          <p:cNvSpPr txBox="1"/>
          <p:nvPr/>
        </p:nvSpPr>
        <p:spPr>
          <a:xfrm>
            <a:off x="548640" y="5897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Paytm Power Rangers  |  Lankipalli Tharun  |  Radhika Tenali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hayakLuxe">
  <a:themeElements>
    <a:clrScheme name="SahayakLuxe">
      <a:dk1>
        <a:srgbClr val="06101F"/>
      </a:dk1>
      <a:lt1>
        <a:srgbClr val="F7F3EA"/>
      </a:lt1>
      <a:dk2>
        <a:srgbClr val="0D1B33"/>
      </a:dk2>
      <a:lt2>
        <a:srgbClr val="E9E2D0"/>
      </a:lt2>
      <a:accent1>
        <a:srgbClr val="C9A961"/>
      </a:accent1>
      <a:accent2>
        <a:srgbClr val="00BAF2"/>
      </a:accent2>
      <a:accent3>
        <a:srgbClr val="1BA672"/>
      </a:accent3>
      <a:accent4>
        <a:srgbClr val="D64550"/>
      </a:accent4>
      <a:accent5>
        <a:srgbClr val="8EA0BA"/>
      </a:accent5>
      <a:accent6>
        <a:srgbClr val="F2D98D"/>
      </a:accent6>
      <a:hlink>
        <a:srgbClr val="00BAF2"/>
      </a:hlink>
      <a:folHlink>
        <a:srgbClr val="8EA0BA"/>
      </a:folHlink>
    </a:clrScheme>
    <a:fontScheme name="SahayakLux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1283</Words>
  <Application>Microsoft Office PowerPoint</Application>
  <PresentationFormat>Widescreen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SahayakLuxe</vt:lpstr>
      <vt:lpstr>Sahayak</vt:lpstr>
      <vt:lpstr>Merchant servicing is breaking under its own weight — and more agents is not the answer.</vt:lpstr>
      <vt:lpstr>One AI teammate — end-to-end ownership across customer service AND sales.</vt:lpstr>
      <vt:lpstr>Five layers — Sarvam AI at the voice, safety at the core, six Paytm systems in scope.</vt:lpstr>
      <vt:lpstr>It acts across systems. It's safe. It escalates like a teammate. And it covers sales too.</vt:lpstr>
      <vt:lpstr>Measurable outcomes for merchants, Paytm, and support teams — across CS and Sales.</vt:lpstr>
      <vt:lpstr>A model that saves ₹339 Cr, protects merchant revenue, and scales beyond Paytm.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Sahayak - Paytm Power Rangers</dc:title>
  <dc:subject>PptxGenJS Presentation</dc:subject>
  <dc:creator>Paytm Power Rangers</dc:creator>
  <cp:lastModifiedBy>Radhika Tenali</cp:lastModifiedBy>
  <cp:revision>17</cp:revision>
  <dcterms:created xsi:type="dcterms:W3CDTF">2026-10-26T09:39:36Z</dcterms:created>
  <dcterms:modified xsi:type="dcterms:W3CDTF">2026-10-26T17:22:15Z</dcterms:modified>
</cp:coreProperties>
</file>