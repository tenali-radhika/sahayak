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B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BAF2"/>
                </a:solidFill>
                <a:latin typeface="Arial"/>
              </a:defRPr>
            </a:pPr>
            <a:r>
              <a:t>PAYTM BUILD FOR INDIA HACKATHON 2026 · FINAL EVALUATION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1F5F9"/>
                </a:solidFill>
                <a:latin typeface="Arial"/>
              </a:defRPr>
            </a:pPr>
            <a:r>
              <a:t>Sahayak (सहायक / ಸಹಾಯಕ)</a:t>
            </a:r>
          </a:p>
          <a:p>
            <a:pPr>
              <a:spcBef>
                <a:spcPts val="600"/>
              </a:spcBef>
              <a:defRPr sz="2200" b="1">
                <a:solidFill>
                  <a:srgbClr val="00BAF2"/>
                </a:solidFill>
                <a:latin typeface="Arial"/>
              </a:defRPr>
            </a:pPr>
            <a:r>
              <a:t>The Autonomous Voice-First AI Teammate for Paytm Merchants</a:t>
            </a:r>
          </a:p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  <a:latin typeface="Arial"/>
              </a:defRPr>
            </a:pPr>
            <a:r>
              <a:t>Fully Executable Working Prototype · Track 3: Autonomous AI Teammates · Powered by Sarvam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840480"/>
            <a:ext cx="3291840" cy="21031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02336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1. Voice Autonomy (Sarvam AI)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Native Indian languages (Hindi, Kannada, English) with sub-second response turn latency (&lt; 0.81s) via Sarvam Saaras &amp; Bulbul.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Live SDK Integrated</a:t>
            </a:r>
            <a:br/>
            <a:r>
              <a:t>• Real-time Waveform &amp; Audio</a:t>
            </a:r>
            <a:br/>
            <a:r>
              <a:t>• Culturally natural speech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3984" y="3840480"/>
            <a:ext cx="3291840" cy="21031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402336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2. Strict Safety &amp; Guardrails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5 deterministic safety gates with a strict ₹50,000 hard stop on financial actions and full-context escalation handoff.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Zero unsafe money actions</a:t>
            </a:r>
            <a:br/>
            <a:r>
              <a:t>• Caller KYC &amp; Fraud pre-checks</a:t>
            </a:r>
            <a:br/>
            <a:r>
              <a:t>• SHA-256 hash-chained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2712" y="3840480"/>
            <a:ext cx="3291840" cy="21031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402336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3. Multi-System Resolutions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End-to-end resolution across 6 Paytm systems with simultaneous customer service and proactive revenue generation.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Settlement, Soundbox, Loans</a:t>
            </a:r>
            <a:br/>
            <a:r>
              <a:t>• Proactive EMI payment links</a:t>
            </a:r>
            <a:br/>
            <a:r>
              <a:t>• 20/20 Benchmark tests passing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AF2"/>
                </a:solidFill>
              </a:defRPr>
            </a:pPr>
            <a:r>
              <a:t>Team Paytm Power Rangers: Lankipalli Tharun &amp; Radhika Tenali  |  Verified on Live Localhost Prototype (Port 8000)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AF2"/>
                </a:solidFill>
                <a:latin typeface="Arial"/>
              </a:defRPr>
            </a:pPr>
            <a:r>
              <a:t>01 PROBLEM &amp; PROTOTYPE MANDATE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Operational Reality &amp; Why Autonomous Execution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7548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Paytm Merchant Scale vs. Support Costs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Paytm Q1 FY27: 5.0 Cr Merchants | ₹339 Cr/Quarter Sales &amp; Service Cost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Routine merchant queries follow 4 repeatable categories (~100% of volume):</a:t>
            </a:r>
            <a:br/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• Settlement Inquiries (~40%): 'Kal ka paisa abhi tak nahi aaya' -&gt; Blocked by bank holiday or batch delay.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• Soundbox Failures (~25%): 'Soundbox bol nahi raha' / 'Mathadtha illa' -&gt; Hardware or SIM failure.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• Payment Resync (~20%): 'Customer account se kat gaye, mujhe nahi mile' -&gt; Missing UPI sync.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• Loan &amp; EMI Blocks (~15%): 'Account limit ho gaya / EMI link bhejo' -&gt; KYC limit or overdue EMI.</a:t>
            </a:r>
          </a:p>
          <a:p>
            <a:br/>
            <a:pPr>
              <a:defRPr sz="1000" b="1">
                <a:solidFill>
                  <a:srgbClr val="00BAF2"/>
                </a:solidFill>
              </a:defRPr>
            </a:pPr>
            <a:r>
              <a:t>Core Insight: Chatbots only provide links; human agents scale linearly with cost. Sahayak autonomously takes action in backend systems to resolve tickets in one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Prototype Scope Delivered (100% Executable)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Built to deliver the 6 Slide 6 Promises at Hackathon Pitch Stage</a:t>
            </a:r>
          </a:p>
          <a:p>
            <a:pPr>
              <a:spcBef>
                <a:spcPts val="600"/>
              </a:spcBef>
              <a:defRPr sz="1050">
                <a:solidFill>
                  <a:srgbClr val="F1F5F9"/>
                </a:solidFill>
              </a:defRPr>
            </a:pPr>
            <a:r>
              <a:t>✔ Dual Inbound CS + Outbound Sales: Resolves merchant distress and cross-checks proactive revenue opportunities (EMI reminder, pre-approved loan, Soundbox upgrades) in the same call.</a:t>
            </a:r>
          </a:p>
          <a:p>
            <a:pPr>
              <a:spcBef>
                <a:spcPts val="600"/>
              </a:spcBef>
              <a:defRPr sz="1050">
                <a:solidFill>
                  <a:srgbClr val="F1F5F9"/>
                </a:solidFill>
              </a:defRPr>
            </a:pPr>
            <a:r>
              <a:t>✔ Full-Stack Deterministic State Machine: 6 states: LISTEN -&gt; DIAGNOSE -&gt; FETCH -&gt; ACT -&gt; VERIFY -&gt; CLOSE/ESCALATE. Zero black-box hallucinations.</a:t>
            </a:r>
          </a:p>
          <a:p>
            <a:pPr>
              <a:spcBef>
                <a:spcPts val="600"/>
              </a:spcBef>
              <a:defRPr sz="1050">
                <a:solidFill>
                  <a:srgbClr val="F1F5F9"/>
                </a:solidFill>
              </a:defRPr>
            </a:pPr>
            <a:r>
              <a:t>✔ 5 Hard Safety Gates: Caller verification, KYC/fraud check, confidence &gt; 80%, ₹50,000 transaction ceiling, and idempotency lock.</a:t>
            </a:r>
          </a:p>
          <a:p>
            <a:pPr>
              <a:spcBef>
                <a:spcPts val="600"/>
              </a:spcBef>
              <a:defRPr sz="1050">
                <a:solidFill>
                  <a:srgbClr val="F1F5F9"/>
                </a:solidFill>
              </a:defRPr>
            </a:pPr>
            <a:r>
              <a:t>✔ Real Sarvam AI Integration: Connected with live Sarvam API key: sarvam-105b-conversations for intent and Bulbul v3 for high-fidelity speech synthesis.</a:t>
            </a:r>
          </a:p>
          <a:p>
            <a:pPr>
              <a:spcBef>
                <a:spcPts val="600"/>
              </a:spcBef>
              <a:defRPr sz="1050">
                <a:solidFill>
                  <a:srgbClr val="F1F5F9"/>
                </a:solidFill>
              </a:defRPr>
            </a:pPr>
            <a:r>
              <a:t>✔ Automated 20-Scenario Verification: 10 CS cases, 3 Sales cases, 5 Escalations, and 2 Security refusals verified programmatically.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AF2"/>
                </a:solidFill>
                <a:latin typeface="Arial"/>
              </a:defRPr>
            </a:pPr>
            <a:r>
              <a:t>02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Deterministic 6-State FSM &amp; 9-Layer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673352" cy="19202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1216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1. LISTEN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Sarvam Saaras STT</a:t>
            </a:r>
            <a:br/>
            <a:r>
              <a:t>Hindi/Kannada/Eng</a:t>
            </a:r>
            <a:br/>
            <a:r>
              <a:t>Web Audio Waveform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1371600"/>
            <a:ext cx="1673352" cy="19202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554480"/>
            <a:ext cx="1216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2. DIAGNOSE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Intent Classification</a:t>
            </a:r>
            <a:br/>
            <a:r>
              <a:t>Entity Extraction</a:t>
            </a:r>
            <a:br/>
            <a:r>
              <a:t>Confidence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1673352" cy="19202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54480"/>
            <a:ext cx="1216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3. FETCH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Queries 6 Paytm APIs</a:t>
            </a:r>
            <a:br/>
            <a:r>
              <a:t>KYC, Switch, Device,</a:t>
            </a:r>
            <a:br/>
            <a:r>
              <a:t>Loan, CRM Telemetry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59" y="1371600"/>
            <a:ext cx="1673352" cy="19202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554480"/>
            <a:ext cx="1216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4. ACT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Deterministic Action</a:t>
            </a:r>
            <a:br/>
            <a:r>
              <a:t>Retry Settlement</a:t>
            </a:r>
            <a:br/>
            <a:r>
              <a:t>Replace Device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371600"/>
            <a:ext cx="1673352" cy="19202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554480"/>
            <a:ext cx="1216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5. VERIFY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Gateway ACK Check</a:t>
            </a:r>
            <a:br/>
            <a:r>
              <a:t>NPCI Confirmation</a:t>
            </a:r>
            <a:br/>
            <a:r>
              <a:t>Logistics Sync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20" y="1371600"/>
            <a:ext cx="1673352" cy="19202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0" y="1554480"/>
            <a:ext cx="121615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6. CLOSE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Closed CRM Ticket</a:t>
            </a:r>
            <a:br/>
            <a:r>
              <a:t>Proactive EMI Nudge</a:t>
            </a:r>
            <a:br/>
            <a:r>
              <a:t>SHA-256 Audit 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74720"/>
            <a:ext cx="3383280" cy="28346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57600"/>
            <a:ext cx="2926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Voice Layer: Sarvam AI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Purpose-built for Indian Merchant Speech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Sarvam Saaras v1 STT: Real-time transcription for Hindi, Kannada, and Indian-accented English.</a:t>
            </a:r>
            <a:br/>
            <a:r>
              <a:t>• Sarvam Bulbul v3 TTS: Natural, human-like voice synthesis with authentic cadence.</a:t>
            </a:r>
            <a:br/>
            <a:r>
              <a:t>• Total Turn Latency: 0.80s (well below the &lt; 2.0s design SLA).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474720"/>
            <a:ext cx="3383280" cy="28346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3657600"/>
            <a:ext cx="2926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Agent Core: FSM Controller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Strict Safety &amp; Zero Black-Box Uncertainty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Deterministic State Machine using Python transitions.</a:t>
            </a:r>
            <a:br/>
            <a:r>
              <a:t>• Intent-to-Tool Mapper (Sarvam 105B LLM).</a:t>
            </a:r>
            <a:br/>
            <a:r>
              <a:t>• Multi-step verification: Actions are not marked resolved until gateway ACK (200 OK) is verified.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474720"/>
            <a:ext cx="3383280" cy="28346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3657600"/>
            <a:ext cx="2926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Audit: SHA-256 Hash Chained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Cryptographically Verifiable Ledger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• Every event appends: SHA-256(index + timestamp + prev_hash + payload).</a:t>
            </a:r>
            <a:br/>
            <a:r>
              <a:t>• In-memory &amp; file backed (audit/ledger.jsonl).</a:t>
            </a:r>
            <a:br/>
            <a:r>
              <a:t>• Interactive 'Tamper with Block #2' demo proving chain breaks on unauthorized alteration.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AF2"/>
                </a:solidFill>
                <a:latin typeface="Arial"/>
              </a:defRPr>
            </a:pPr>
            <a:r>
              <a:t>03 BACKEND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Complete Multi-System Integrations: 6 Paytm API Surfaces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29000" cy="224028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718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1. Merchant Profile &amp; KYC</a:t>
            </a:r>
          </a:p>
          <a:p>
            <a:pPr>
              <a:defRPr sz="850">
                <a:solidFill>
                  <a:srgbClr val="00BAF2"/>
                </a:solidFill>
                <a:latin typeface="Courier New"/>
              </a:defRPr>
            </a:pPr>
            <a:r>
              <a:t>GET /api/v1/merchant/{id}/profile</a:t>
            </a:r>
            <a:br/>
            <a:r>
              <a:t>GET /api/v1/merchant/{id}/kyc</a:t>
            </a:r>
            <a:br/>
            <a:r>
              <a:t>POST /api/v1/merchant/{id}/kyc/resend-link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Resolves caller identity, daily transaction limits, KYC verification tier (Gold/Platinum), and account freeze status.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29000" cy="224028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29718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2. Settlement &amp; Payment Gateway</a:t>
            </a:r>
          </a:p>
          <a:p>
            <a:pPr>
              <a:defRPr sz="850">
                <a:solidFill>
                  <a:srgbClr val="00BAF2"/>
                </a:solidFill>
                <a:latin typeface="Courier New"/>
              </a:defRPr>
            </a:pPr>
            <a:r>
              <a:t>GET /api/v1/settlement/{id}/status</a:t>
            </a:r>
            <a:br/>
            <a:r>
              <a:t>POST /api/v1/settlement/{id}/retry</a:t>
            </a:r>
            <a:br/>
            <a:r>
              <a:t>GET /api/v1/settlement/{id}/retry/confirm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Queries delayed settlement batches, checks bank holiday flags, dispatches payment retry jobs to NPCI switch.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29000" cy="224028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645920"/>
            <a:ext cx="29718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3. Device &amp; Logistics (Soundbox)</a:t>
            </a:r>
          </a:p>
          <a:p>
            <a:pPr>
              <a:defRPr sz="850">
                <a:solidFill>
                  <a:srgbClr val="00BAF2"/>
                </a:solidFill>
                <a:latin typeface="Courier New"/>
              </a:defRPr>
            </a:pPr>
            <a:r>
              <a:t>GET /api/v1/device/{id}/status</a:t>
            </a:r>
            <a:br/>
            <a:r>
              <a:t>POST /api/v1/device/{id}/replace</a:t>
            </a:r>
            <a:br/>
            <a:r>
              <a:t>GET /api/v1/device/{id}/logistics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Queries Soundbox 4G telemetry (SIM signal, speaker fault, battery), creates Bluedart courier replacement orders.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429000" cy="224028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29718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4. Loan &amp; EMI Management</a:t>
            </a:r>
          </a:p>
          <a:p>
            <a:pPr>
              <a:defRPr sz="850">
                <a:solidFill>
                  <a:srgbClr val="00BAF2"/>
                </a:solidFill>
                <a:latin typeface="Courier New"/>
              </a:defRPr>
            </a:pPr>
            <a:r>
              <a:t>GET /api/v1/loan/{id}/status</a:t>
            </a:r>
            <a:br/>
            <a:r>
              <a:t>GET /api/v1/loan/{id}/emi</a:t>
            </a:r>
            <a:br/>
            <a:r>
              <a:t>POST /api/v1/loan/{id}/emi/send-link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Inspects merchant loan accounts, queries next EMI due date and amount, sends UPI payment links for pre-collection.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931920"/>
            <a:ext cx="3429000" cy="224028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14800"/>
            <a:ext cx="29718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5. CRM &amp; Ticketing</a:t>
            </a:r>
          </a:p>
          <a:p>
            <a:pPr>
              <a:defRPr sz="850">
                <a:solidFill>
                  <a:srgbClr val="00BAF2"/>
                </a:solidFill>
                <a:latin typeface="Courier New"/>
              </a:defRPr>
            </a:pPr>
            <a:r>
              <a:t>POST /api/v1/crm/ticket/create</a:t>
            </a:r>
            <a:br/>
            <a:r>
              <a:t>GET /api/v1/crm/ticket/{id}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Maintains audit synchronization by logging autonomously resolved tickets or priority tickets flagged with escalation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3931920"/>
            <a:ext cx="3429000" cy="224028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4114800"/>
            <a:ext cx="297180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6. Sales Outreach &amp; Nudges</a:t>
            </a:r>
          </a:p>
          <a:p>
            <a:pPr>
              <a:defRPr sz="850">
                <a:solidFill>
                  <a:srgbClr val="00BAF2"/>
                </a:solidFill>
                <a:latin typeface="Courier New"/>
              </a:defRPr>
            </a:pPr>
            <a:r>
              <a:t>POST /api/v1/sales/payment-link/send</a:t>
            </a:r>
            <a:br/>
            <a:r>
              <a:t>POST /api/v1/sales/nudge/trigger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</a:defRPr>
            </a:pPr>
            <a:r>
              <a:t>Dispatches instant SMS push banners for proactive EMI recovery, festive pre-approved loans, and Soundbox upgrades.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AF2"/>
                </a:solidFill>
                <a:latin typeface="Arial"/>
              </a:defRPr>
            </a:pPr>
            <a:r>
              <a:t>04 ENTERPRISE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Safety by Design: 5 Deterministic Guardrail Gates &amp; Escalation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7548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5 Deterministic Safety Gates (Zero Black-Box Money Risk)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Every action must pass all 5 gates before any tool execution occurs</a:t>
            </a:r>
          </a:p>
          <a:p>
            <a:pPr>
              <a:spcBef>
                <a:spcPts val="400"/>
              </a:spcBef>
              <a:defRPr sz="1100" b="1">
                <a:solidFill>
                  <a:srgbClr val="F59E0B"/>
                </a:solidFill>
              </a:defRPr>
            </a:pPr>
            <a:r>
              <a:t>🔒 Gate 1: Caller Authentication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Verifies caller phone number against merchant's registered KYC profile. Blocks spoofed calls.</a:t>
            </a:r>
          </a:p>
          <a:p>
            <a:pPr>
              <a:spcBef>
                <a:spcPts val="400"/>
              </a:spcBef>
              <a:defRPr sz="1100" b="1">
                <a:solidFill>
                  <a:srgbClr val="F59E0B"/>
                </a:solidFill>
              </a:defRPr>
            </a:pPr>
            <a:r>
              <a:t>🔒 Gate 2: Account Status &amp; Fraud Check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Checks active risk flags, chargeback holds, and legal disputes. Merchants with fraud flags are halted.</a:t>
            </a:r>
          </a:p>
          <a:p>
            <a:pPr>
              <a:spcBef>
                <a:spcPts val="400"/>
              </a:spcBef>
              <a:defRPr sz="1100" b="1">
                <a:solidFill>
                  <a:srgbClr val="F59E0B"/>
                </a:solidFill>
              </a:defRPr>
            </a:pPr>
            <a:r>
              <a:t>🔒 Gate 3: Confidence Threshold (≥ 80%)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Requires ≥ 80% diagnostic confidence from LLM. Unintelligible speech routes to human.</a:t>
            </a:r>
          </a:p>
          <a:p>
            <a:pPr>
              <a:spcBef>
                <a:spcPts val="400"/>
              </a:spcBef>
              <a:defRPr sz="1100" b="1">
                <a:solidFill>
                  <a:srgbClr val="F59E0B"/>
                </a:solidFill>
              </a:defRPr>
            </a:pPr>
            <a:r>
              <a:t>🔒 Gate 4: ₹50,000 Hard Transaction Cap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Strict ceiling on autonomous settlement retries or refunds. Requests &gt; ₹50,000 trip Gate 4 in red.</a:t>
            </a:r>
          </a:p>
          <a:p>
            <a:pPr>
              <a:spcBef>
                <a:spcPts val="400"/>
              </a:spcBef>
              <a:defRPr sz="1100" b="1">
                <a:solidFill>
                  <a:srgbClr val="F59E0B"/>
                </a:solidFill>
              </a:defRPr>
            </a:pPr>
            <a:r>
              <a:t>🔒 Gate 5: Idempotency Barrier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Enforces a fingerprint cooldown on rapid identical actions to prevent accidental double-credits or replay attacks.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Senior Specialist Handoff Console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Zero Information Loss — Human Agents Never Start from Zero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When any safety gate trips, Sahayak immediately constructs a structured 4-part Escalation Packet dispatched to the Support Console:</a:t>
            </a:r>
            <a:br/>
          </a:p>
          <a:p>
            <a:pPr>
              <a:spcBef>
                <a:spcPts val="600"/>
              </a:spcBef>
              <a:defRPr sz="1050">
                <a:solidFill>
                  <a:srgbClr val="F1F5F9"/>
                </a:solidFill>
              </a:defRPr>
            </a:pPr>
            <a:r>
              <a:t>✔ 1. Issue Summary: Exact root issue diagnosed from merchant voice utterance.</a:t>
            </a:r>
          </a:p>
          <a:p>
            <a:pPr>
              <a:spcBef>
                <a:spcPts val="600"/>
              </a:spcBef>
              <a:defRPr sz="1050">
                <a:solidFill>
                  <a:srgbClr val="F1F5F9"/>
                </a:solidFill>
              </a:defRPr>
            </a:pPr>
            <a:r>
              <a:t>✔ 2. What Sahayak Tried: Full step-by-step reasoning trace with system observations and tool attempts.</a:t>
            </a:r>
          </a:p>
          <a:p>
            <a:pPr>
              <a:spcBef>
                <a:spcPts val="600"/>
              </a:spcBef>
              <a:defRPr sz="1050">
                <a:solidFill>
                  <a:srgbClr val="F1F5F9"/>
                </a:solidFill>
              </a:defRPr>
            </a:pPr>
            <a:r>
              <a:t>✔ 3. Next Recommended Action: Clear algorithmic recommendation (e.g., 'Authorize manual wire release').</a:t>
            </a:r>
          </a:p>
          <a:p>
            <a:pPr>
              <a:spcBef>
                <a:spcPts val="600"/>
              </a:spcBef>
              <a:defRPr sz="1050">
                <a:solidFill>
                  <a:srgbClr val="F1F5F9"/>
                </a:solidFill>
              </a:defRPr>
            </a:pPr>
            <a:r>
              <a:t>✔ 4. Complete Transcript: Turn-by-turn verbatim dialog history in native language and English.</a:t>
            </a:r>
          </a:p>
          <a:p>
            <a:br/>
            <a:pPr>
              <a:defRPr sz="1000" b="1">
                <a:solidFill>
                  <a:srgbClr val="00BAF2"/>
                </a:solidFill>
              </a:defRPr>
            </a:pPr>
            <a:r>
              <a:t>Live Proof: Clicking 'Release ₹1,20,000 settlement' trips Gate 4 in red and populates the Support Console live.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AF2"/>
                </a:solidFill>
                <a:latin typeface="Arial"/>
              </a:defRPr>
            </a:pPr>
            <a:r>
              <a:t>05 PROTOTYPE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Live Prototype Interface (Served on Localhost:8000)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Merchant Voice Experience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Phone Simulator in Authentic Paytm Light Theme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Real Microphone Amplitude: Web Audio API animates the live canvas waveform.</a:t>
            </a:r>
            <a:br/>
            <a:r>
              <a:t>• Multi-lingual Speech Intake: Hindi ('Bhaiya, kal ka paisa nahi aaya') and Kannada ('Soundbox mathadtha illa').</a:t>
            </a:r>
            <a:br/>
            <a:r>
              <a:t>• Streaming Typewriter Transcript: Live language detection badge ([Hindi · 96%]).</a:t>
            </a:r>
            <a:br/>
            <a:r>
              <a:t>• Sarvam Bulbul Voice Playback: Authentic audio played directly over speakers.</a:t>
            </a:r>
            <a:br/>
            <a:r>
              <a:t>• Proactive Push Banners: In-app notification for upcoming loan EMI payment link.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9260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Agent Brain Telemetry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Real-Time Execution Stream (Matched 740px Height)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Ghost Timeline: Greyed-out in idle state, eliminates visual layout jumps.</a:t>
            </a:r>
            <a:br/>
            <a:r>
              <a:t>• Live Step Animation: Spinner -&gt; Checkmark with real ms latencies.</a:t>
            </a:r>
            <a:br/>
            <a:r>
              <a:t>• Dynamic Calling System: Highlights 'Settlement Switch', 'Soundbox Telemetry', etc.</a:t>
            </a:r>
            <a:br/>
            <a:r>
              <a:t>• 5 Sequential Gate Checks: Visual green ticks before ACT step.</a:t>
            </a:r>
            <a:br/>
            <a:r>
              <a:t>• Latency Breakdown Bar: Segmented visualization of STT (45%), LLM (25%), Tools (18%), TTS (12%).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645920"/>
            <a:ext cx="29260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Safety &amp; Audit Consoles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Interactive Drawers for Jury Verification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Red Guardrail Interception: Flashing banner intercepts &gt; ₹50K attempts before tool execution.</a:t>
            </a:r>
            <a:br/>
            <a:r>
              <a:t>• Specialist Support Console: Dark-mode handoff console displaying the 4-part packet.</a:t>
            </a:r>
            <a:br/>
            <a:r>
              <a:t>• Cryptographic Audit Drawer: Fully opaque, dark-themed append-only ledger.</a:t>
            </a:r>
            <a:br/>
            <a:r>
              <a:t>• Tamper Demonstration: Mutates Block #2 to show hash chain integrity violation &amp; self-healing restore.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AF2"/>
                </a:solidFill>
                <a:latin typeface="Arial"/>
              </a:defRPr>
            </a:pPr>
            <a:r>
              <a:t>06 EVALUATION &amp;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Automated Verification: All 6 Slide 6 Targets Validated (20/20 Passed)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7259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011680"/>
                <a:gridCol w="3410712"/>
              </a:tblGrid>
              <a:tr h="41801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BAF2"/>
                          </a:solidFill>
                          <a:latin typeface="Arial"/>
                        </a:defRPr>
                      </a:pPr>
                      <a:r>
                        <a:t>Design Target Metric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BAF2"/>
                          </a:solidFill>
                          <a:latin typeface="Arial"/>
                        </a:defRPr>
                      </a:pPr>
                      <a:r>
                        <a:t>Pitch Deck Target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BAF2"/>
                          </a:solidFill>
                          <a:latin typeface="Arial"/>
                        </a:defRPr>
                      </a:pPr>
                      <a:r>
                        <a:t>Prototype Measured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0BAF2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Autonomous CS Resolution Rate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≥ 70.0%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PASSED (10/10 Cases Resolved)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Unsafe Money Actions Executed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0 (Zero)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PASSED (Zero Money Risk)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Voice Response Turn Latency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&lt; 2.00 s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0.80 s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PASSED (Sarvam Pipeline)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Cryptographic Audit Trail Coverage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PASSED (Valid SHA-256 Chain)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Escalation Trigger Accuracy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PASSED (5/5 Correctly Tripped)</a:t>
                      </a:r>
                    </a:p>
                  </a:txBody>
                  <a:tcPr>
                    <a:solidFill>
                      <a:srgbClr val="0E1A30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Senior Handoff Packet Completeness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PASSED (All 4 Fields Verified)</a:t>
                      </a:r>
                    </a:p>
                  </a:txBody>
                  <a:tcPr>
                    <a:solidFill>
                      <a:srgbClr val="09122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663440"/>
            <a:ext cx="2606040" cy="16916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846320"/>
            <a:ext cx="2148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CS Inquiries (10 Cases)</a:t>
            </a:r>
          </a:p>
          <a:p>
            <a:pPr>
              <a:defRPr sz="900">
                <a:solidFill>
                  <a:srgbClr val="F1F5F9"/>
                </a:solidFill>
              </a:defRPr>
            </a:pPr>
            <a:r>
              <a:t>Settlement delay, Soundbox speaker, UPI missing sync, Account limit KYC, EMI links.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4663440"/>
            <a:ext cx="2606040" cy="16916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4846320"/>
            <a:ext cx="2148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Proactive Sales (3 Cases)</a:t>
            </a:r>
          </a:p>
          <a:p>
            <a:pPr>
              <a:defRPr sz="900">
                <a:solidFill>
                  <a:srgbClr val="F1F5F9"/>
                </a:solidFill>
              </a:defRPr>
            </a:pPr>
            <a:r>
              <a:t>EMI due tomorrow reminder, Soundbox 4G retention nudge, Pre-approved loan offer.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663440"/>
            <a:ext cx="2606040" cy="16916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846320"/>
            <a:ext cx="2148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Must-Escalate (5 Cases)</a:t>
            </a:r>
          </a:p>
          <a:p>
            <a:pPr>
              <a:defRPr sz="900">
                <a:solidFill>
                  <a:srgbClr val="F1F5F9"/>
                </a:solidFill>
              </a:defRPr>
            </a:pPr>
            <a:r>
              <a:t>Active fraud flag, High-value &gt; ₹50K cap, Dispute hold, Caller distress, Low confidence.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4663440"/>
            <a:ext cx="2606040" cy="169164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4846320"/>
            <a:ext cx="2148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Security Refusals (2 Cases)</a:t>
            </a:r>
          </a:p>
          <a:p>
            <a:pPr>
              <a:defRPr sz="900">
                <a:solidFill>
                  <a:srgbClr val="F1F5F9"/>
                </a:solidFill>
              </a:defRPr>
            </a:pPr>
            <a:r>
              <a:t>Spoofed caller phone number rejected, Duplicate rapid double-click replay blocked.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AF2"/>
                </a:solidFill>
                <a:latin typeface="Arial"/>
              </a:defRPr>
            </a:pPr>
            <a:r>
              <a:t>07 BUSINESS IMPACT &amp;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Business Model &amp; Production Deployment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1. Cost Reduction (Save)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Bending the ₹339 Cr/Quarter Servicing Curve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Target Categories: Settlements (~40%) and Soundbox (~25%) represent 65% of all incoming ticket volume.</a:t>
            </a:r>
            <a:br/>
            <a:r>
              <a:t>• Automated Resolution: Handling 70%+ of these tickets without human intervention deflects over 300,000 human calls monthly.</a:t>
            </a:r>
            <a:br/>
            <a:r>
              <a:t>• Outcome-Based ROI: At ₹10 per autonomous resolution, Paytm achieves a 6x cost saving compared to human agent handling.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9260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2. Revenue Growth (Earn)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Turning Cost Centers into Profit Engines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Proactive EMI Recovery: Delivering UPI payment links during routine calls reduces loan defaults by up to 18%.</a:t>
            </a:r>
            <a:br/>
            <a:r>
              <a:t>• Soundbox Retention: Immediate dispatch of replacement hardware eliminates merchant churn and protects device subscription revenue.</a:t>
            </a:r>
            <a:br/>
            <a:r>
              <a:t>• Contextual Cross-Sell: Pre-approved merchant loan offers surfaced when merchant cash flows are high.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0E1A30"/>
          </a:solidFill>
          <a:ln w="15240">
            <a:solidFill>
              <a:srgbClr val="1E2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645920"/>
            <a:ext cx="29260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BAF2"/>
                </a:solidFill>
                <a:latin typeface="Arial"/>
              </a:defRPr>
            </a:pPr>
            <a:r>
              <a:t>3. Phased Rollout Plan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Pragmatic, Low-Risk Enterprise Deployment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Phase 1 (Weeks 1-4): Shadow pilot on 10,000 Bengaluru merchants for Settlement + Soundbox queries.</a:t>
            </a:r>
            <a:br/>
            <a:r>
              <a:t>• Phase 2 (Weeks 5-8): Expand to Kannada &amp; Hindi voice intake with human approval required on retries &gt; ₹25,000.</a:t>
            </a:r>
            <a:br/>
            <a:r>
              <a:t>• Phase 3 (Weeks 9-12): Full nationwide deployment with ₹50,000 autonomous ceiling and proactive EMI collection.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