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</p:sldIdLst>
  <p:sldSz cx="12191695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B5BEC5A5-79B7-D57E-37E3-ECE6D0956900}">
          <p14:sldIdLst>
            <p14:sldId id="256"/>
            <p14:sldId id="257"/>
            <p14:sldId id="258"/>
            <p14:sldId id="259"/>
            <p14:sldId id="260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D002F-0CB8-D344-A8CE-B5A7BBE31A86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A53C0-2DA7-2144-9BEB-57AA7BECF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9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371600"/>
            <a:ext cx="62179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72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9A961"/>
                </a:solidFill>
                <a:latin typeface="Calibri"/>
              </a:defRPr>
            </a:pPr>
            <a:r>
              <a:rPr sz="1200" b="1">
                <a:solidFill>
                  <a:srgbClr val="C9A961"/>
                </a:solidFill>
                <a:latin typeface="Calibri"/>
              </a:rPr>
              <a:t>PAYTM BUILD FOR INDIA HACKATHON 2026 · TRACK 3: AUTONOMOUS AI TEAMMATES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7F3EA"/>
                </a:solidFill>
                <a:latin typeface="Cambria"/>
              </a:defRPr>
            </a:pPr>
            <a:r>
              <a:rPr sz="4400" b="1">
                <a:solidFill>
                  <a:srgbClr val="F7F3EA"/>
                </a:solidFill>
                <a:latin typeface="Cambria"/>
              </a:rPr>
              <a:t>Sahayak (सहायक / ಸಹಾಯಕ)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2100" b="1">
                <a:solidFill>
                  <a:srgbClr val="C9A961"/>
                </a:solidFill>
                <a:latin typeface="Calibri"/>
              </a:defRPr>
            </a:pPr>
            <a:r>
              <a:rPr sz="2100" b="1">
                <a:solidFill>
                  <a:srgbClr val="C9A961"/>
                </a:solidFill>
                <a:latin typeface="Calibri"/>
              </a:rPr>
              <a:t>The Autonomous Voice-First AI Teammate for Paytm Merchants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 b="0">
                <a:solidFill>
                  <a:srgbClr val="8EA0BA"/>
                </a:solidFill>
                <a:latin typeface="Calibri"/>
              </a:defRPr>
            </a:pPr>
            <a:r>
              <a:rPr sz="1300" b="0">
                <a:solidFill>
                  <a:srgbClr val="8EA0BA"/>
                </a:solidFill>
                <a:latin typeface="Calibri"/>
              </a:rPr>
              <a:t>Production-Grade Working Prototype · Native Indian Languages · Deterministic Execution · Strict Safety Gates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20440"/>
            <a:ext cx="3337560" cy="228600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685032"/>
            <a:ext cx="2935224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01 Voice Autonomy (Sarvam AI)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00BAF2"/>
                </a:solidFill>
                <a:latin typeface="Calibri"/>
              </a:defRPr>
            </a:pPr>
            <a:r>
              <a:rPr sz="1050" b="1">
                <a:solidFill>
                  <a:srgbClr val="00BAF2"/>
                </a:solidFill>
                <a:latin typeface="Calibri"/>
              </a:rPr>
              <a:t>Native Indian Speech &amp; Sub-Second Latency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F7F3EA"/>
                </a:solidFill>
                <a:latin typeface="Calibri"/>
              </a:defRPr>
            </a:pPr>
            <a:r>
              <a:rPr sz="1000" b="0">
                <a:solidFill>
                  <a:srgbClr val="F7F3EA"/>
                </a:solidFill>
                <a:latin typeface="Calibri"/>
              </a:rPr>
              <a:t>• Sarvam Saaras STT &amp; Bulbul v3 TTS live integration</a:t>
            </a:r>
            <a:br/>
            <a:r>
              <a:rPr sz="1000" b="0">
                <a:solidFill>
                  <a:srgbClr val="F7F3EA"/>
                </a:solidFill>
                <a:latin typeface="Calibri"/>
              </a:rPr>
              <a:t>• Measured turn latency: 0.80s (well within &lt; 2.0s SLA)</a:t>
            </a:r>
            <a:br/>
            <a:r>
              <a:rPr sz="1000" b="0">
                <a:solidFill>
                  <a:srgbClr val="F7F3EA"/>
                </a:solidFill>
                <a:latin typeface="Calibri"/>
              </a:rPr>
              <a:t>• Natural Hindi &amp; Kannada conversational voice flow</a:t>
            </a:r>
            <a:br/>
            <a:r>
              <a:rPr sz="1000" b="0">
                <a:solidFill>
                  <a:srgbClr val="F7F3EA"/>
                </a:solidFill>
                <a:latin typeface="Calibri"/>
              </a:rPr>
              <a:t>• Real-time Web Audio API waveform visualization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3520440"/>
            <a:ext cx="3337560" cy="228600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3685032"/>
            <a:ext cx="2935224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02 Strict Safety &amp; Guardrails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00BAF2"/>
                </a:solidFill>
                <a:latin typeface="Calibri"/>
              </a:defRPr>
            </a:pPr>
            <a:r>
              <a:rPr sz="1050" b="1">
                <a:solidFill>
                  <a:srgbClr val="00BAF2"/>
                </a:solidFill>
                <a:latin typeface="Calibri"/>
              </a:rPr>
              <a:t>Zero Black-Box Financial Risk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F7F3EA"/>
                </a:solidFill>
                <a:latin typeface="Calibri"/>
              </a:defRPr>
            </a:pPr>
            <a:r>
              <a:rPr sz="1000" b="0">
                <a:solidFill>
                  <a:srgbClr val="F7F3EA"/>
                </a:solidFill>
                <a:latin typeface="Calibri"/>
              </a:rPr>
              <a:t>• 5 Deterministic safety gates before any tool action</a:t>
            </a:r>
            <a:br/>
            <a:r>
              <a:rPr sz="1000" b="0">
                <a:solidFill>
                  <a:srgbClr val="F7F3EA"/>
                </a:solidFill>
                <a:latin typeface="Calibri"/>
              </a:rPr>
              <a:t>• ₹50,000 hard ceiling on financial transactions</a:t>
            </a:r>
            <a:br/>
            <a:r>
              <a:rPr sz="1000" b="0">
                <a:solidFill>
                  <a:srgbClr val="F7F3EA"/>
                </a:solidFill>
                <a:latin typeface="Calibri"/>
              </a:rPr>
              <a:t>• Zero hallucination — explicit state machine transitions</a:t>
            </a:r>
            <a:br/>
            <a:r>
              <a:rPr sz="1000" b="0">
                <a:solidFill>
                  <a:srgbClr val="F7F3EA"/>
                </a:solidFill>
                <a:latin typeface="Calibri"/>
              </a:rPr>
              <a:t>• Cryptographic SHA-256 hash-chained audit ledger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3520440"/>
            <a:ext cx="3337560" cy="228600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685032"/>
            <a:ext cx="2935224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03 Multi-System Resolutions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00BAF2"/>
                </a:solidFill>
                <a:latin typeface="Calibri"/>
              </a:defRPr>
            </a:pPr>
            <a:r>
              <a:rPr sz="1050" b="1">
                <a:solidFill>
                  <a:srgbClr val="00BAF2"/>
                </a:solidFill>
                <a:latin typeface="Calibri"/>
              </a:rPr>
              <a:t>Dual Customer Service &amp; Proactive Sales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F7F3EA"/>
                </a:solidFill>
                <a:latin typeface="Calibri"/>
              </a:defRPr>
            </a:pPr>
            <a:r>
              <a:rPr sz="1000" b="0">
                <a:solidFill>
                  <a:srgbClr val="F7F3EA"/>
                </a:solidFill>
                <a:latin typeface="Calibri"/>
              </a:rPr>
              <a:t>• Live integrations across 6 Paytm API surfaces</a:t>
            </a:r>
            <a:br/>
            <a:r>
              <a:rPr sz="1000" b="0">
                <a:solidFill>
                  <a:srgbClr val="F7F3EA"/>
                </a:solidFill>
                <a:latin typeface="Calibri"/>
              </a:rPr>
              <a:t>• Autonomous settlement retries &amp; device replacements</a:t>
            </a:r>
            <a:br/>
            <a:r>
              <a:rPr sz="1000" b="0">
                <a:solidFill>
                  <a:srgbClr val="F7F3EA"/>
                </a:solidFill>
                <a:latin typeface="Calibri"/>
              </a:rPr>
              <a:t>• Proactive EMI payment links &amp; Soundbox 4G upgrades</a:t>
            </a:r>
            <a:br/>
            <a:r>
              <a:rPr sz="1000" b="0">
                <a:solidFill>
                  <a:srgbClr val="F7F3EA"/>
                </a:solidFill>
                <a:latin typeface="Calibri"/>
              </a:rPr>
              <a:t>• 20/20 automated benchmark scenarios passing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9A961"/>
                </a:solidFill>
                <a:latin typeface="Calibri"/>
              </a:defRPr>
            </a:pPr>
            <a:r>
              <a:rPr sz="1100" b="1">
                <a:solidFill>
                  <a:srgbClr val="C9A961"/>
                </a:solidFill>
                <a:latin typeface="Calibri"/>
              </a:rPr>
              <a:t>Team Paytm Power Rangers: Lankipalli Tharun &amp; Radhika Tenali  |  Verified on Live Localhost Prototype (Port 8000)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C9A961"/>
                </a:solidFill>
                <a:latin typeface="Calibri"/>
              </a:defRPr>
            </a:pPr>
            <a:r>
              <a:rPr sz="1150" b="1">
                <a:solidFill>
                  <a:srgbClr val="C9A961"/>
                </a:solidFill>
                <a:latin typeface="Calibri"/>
              </a:rPr>
              <a:t>01 PROBLEM &amp; PROTOTYPE MANDATE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591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3EA"/>
                </a:solidFill>
                <a:latin typeface="Cambria"/>
              </a:defRPr>
            </a:pPr>
            <a:r>
              <a:rPr sz="2400" b="1">
                <a:solidFill>
                  <a:srgbClr val="F7F3EA"/>
                </a:solidFill>
                <a:latin typeface="Cambria"/>
              </a:rPr>
              <a:t>Paytm Merchant Scale vs. Support Costs &amp; Delivered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66360" cy="484632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36192"/>
            <a:ext cx="4764024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Operational Reality at Paytm Scale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00BAF2"/>
                </a:solidFill>
                <a:latin typeface="Calibri"/>
              </a:defRPr>
            </a:pPr>
            <a:r>
              <a:rPr sz="1050" b="1">
                <a:solidFill>
                  <a:srgbClr val="00BAF2"/>
                </a:solidFill>
                <a:latin typeface="Calibri"/>
              </a:rPr>
              <a:t>Paytm Q1 FY27: 5.0 Cr Merchants | ₹339 Cr/Quarter Sales &amp; Service Cost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1050" b="0">
                <a:solidFill>
                  <a:srgbClr val="8EA0BA"/>
                </a:solidFill>
                <a:latin typeface="Calibri"/>
              </a:defRPr>
            </a:pPr>
            <a:r>
              <a:rPr sz="1050" b="0">
                <a:solidFill>
                  <a:srgbClr val="8EA0BA"/>
                </a:solidFill>
                <a:latin typeface="Calibri"/>
              </a:rPr>
              <a:t>• 5.0 Cr registered merchants  ·  1.57 Cr device merchants (+27 Lakh YoY)</a:t>
            </a:r>
            <a:br/>
            <a:r>
              <a:rPr sz="1050" b="0">
                <a:solidFill>
                  <a:srgbClr val="8EA0BA"/>
                </a:solidFill>
                <a:latin typeface="Calibri"/>
              </a:rPr>
              <a:t>• Routine merchant queries follow 4 repeatable categories (~100% volume):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00" b="0">
                <a:solidFill>
                  <a:srgbClr val="F7F3EA"/>
                </a:solidFill>
                <a:latin typeface="Calibri"/>
              </a:defRPr>
            </a:pPr>
            <a:r>
              <a:rPr sz="1000" b="0">
                <a:solidFill>
                  <a:srgbClr val="F7F3EA"/>
                </a:solidFill>
                <a:latin typeface="Calibri"/>
              </a:rPr>
              <a:t>• Settlement Inquiries (~40%): 'Kal ka paisa abhi tak nahi aaya' -&gt; Blocked by bank holiday or batch delay.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00" b="0">
                <a:solidFill>
                  <a:srgbClr val="F7F3EA"/>
                </a:solidFill>
                <a:latin typeface="Calibri"/>
              </a:defRPr>
            </a:pPr>
            <a:r>
              <a:rPr sz="1000" b="0">
                <a:solidFill>
                  <a:srgbClr val="F7F3EA"/>
                </a:solidFill>
                <a:latin typeface="Calibri"/>
              </a:rPr>
              <a:t>• Soundbox Failures (~25%): 'Soundbox bol nahi raha' / 'Mathadtha illa' -&gt; Hardware or SIM failure.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00" b="0">
                <a:solidFill>
                  <a:srgbClr val="F7F3EA"/>
                </a:solidFill>
                <a:latin typeface="Calibri"/>
              </a:defRPr>
            </a:pPr>
            <a:r>
              <a:rPr sz="1000" b="0">
                <a:solidFill>
                  <a:srgbClr val="F7F3EA"/>
                </a:solidFill>
                <a:latin typeface="Calibri"/>
              </a:rPr>
              <a:t>• Payment Resync (~20%): 'Customer account se kat gaye, mujhe nahi mile' -&gt; Missing UPI sync.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00" b="0">
                <a:solidFill>
                  <a:srgbClr val="F7F3EA"/>
                </a:solidFill>
                <a:latin typeface="Calibri"/>
              </a:defRPr>
            </a:pPr>
            <a:r>
              <a:rPr sz="1000" b="0">
                <a:solidFill>
                  <a:srgbClr val="F7F3EA"/>
                </a:solidFill>
                <a:latin typeface="Calibri"/>
              </a:rPr>
              <a:t>• Loan &amp; EMI Blocks (~15%): 'Account limit ho gaya / EMI link bhejo' -&gt; KYC limit or overdue EMI.</a:t>
            </a:r>
          </a:p>
          <a:p>
            <a:br/>
            <a:pPr>
              <a:spcBef>
                <a:spcPts val="400"/>
              </a:spcBef>
              <a:spcAft>
                <a:spcPts val="0"/>
              </a:spcAft>
              <a:defRPr sz="1050" b="1">
                <a:solidFill>
                  <a:srgbClr val="C9A961"/>
                </a:solidFill>
                <a:latin typeface="Calibri"/>
              </a:defRPr>
            </a:pPr>
            <a:r>
              <a:rPr sz="1050" b="1">
                <a:solidFill>
                  <a:srgbClr val="C9A961"/>
                </a:solidFill>
                <a:latin typeface="Calibri"/>
              </a:rPr>
              <a:t>Core Bottleneck: Chatbots only provide FAQs/links; human agents scale linearly with cost. Sahayak autonomously takes action in backend systems to resolve tickets in one call.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57800" cy="484632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36192"/>
            <a:ext cx="4855464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Prototype Scope Delivered (100% Executable)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00BAF2"/>
                </a:solidFill>
                <a:latin typeface="Calibri"/>
              </a:defRPr>
            </a:pPr>
            <a:r>
              <a:rPr sz="1050" b="1">
                <a:solidFill>
                  <a:srgbClr val="00BAF2"/>
                </a:solidFill>
                <a:latin typeface="Calibri"/>
              </a:rPr>
              <a:t>Built to deliver the 6 Slide 6 Promises at Hackathon Pitch Stage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050" b="0">
                <a:solidFill>
                  <a:srgbClr val="F7F3EA"/>
                </a:solidFill>
                <a:latin typeface="Calibri"/>
              </a:defRPr>
            </a:pPr>
            <a:r>
              <a:rPr sz="1050" b="0">
                <a:solidFill>
                  <a:srgbClr val="F7F3EA"/>
                </a:solidFill>
                <a:latin typeface="Calibri"/>
              </a:rPr>
              <a:t>✔ Dual Inbound CS + Outbound Sales: Resolves merchant distress and drives proactive revenue (EMI reminder, Soundbox 4G upgrade) in the exact same call.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050" b="0">
                <a:solidFill>
                  <a:srgbClr val="F7F3EA"/>
                </a:solidFill>
                <a:latin typeface="Calibri"/>
              </a:defRPr>
            </a:pPr>
            <a:r>
              <a:rPr sz="1050" b="0">
                <a:solidFill>
                  <a:srgbClr val="F7F3EA"/>
                </a:solidFill>
                <a:latin typeface="Calibri"/>
              </a:rPr>
              <a:t>✔ Full-Stack Deterministic State Machine: 6 states: LISTEN -&gt; DIAGNOSE -&gt; FETCH -&gt; ACT -&gt; VERIFY -&gt; CLOSE. Zero black-box hallucinations.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050" b="0">
                <a:solidFill>
                  <a:srgbClr val="F7F3EA"/>
                </a:solidFill>
                <a:latin typeface="Calibri"/>
              </a:defRPr>
            </a:pPr>
            <a:r>
              <a:rPr sz="1050" b="0">
                <a:solidFill>
                  <a:srgbClr val="F7F3EA"/>
                </a:solidFill>
                <a:latin typeface="Calibri"/>
              </a:rPr>
              <a:t>✔ 5 Hard Safety Gates: Caller KYC verification, fraud risk check, confidence &gt;= 80%, ₹50,000 transaction ceiling, and idempotency lock.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050" b="0">
                <a:solidFill>
                  <a:srgbClr val="F7F3EA"/>
                </a:solidFill>
                <a:latin typeface="Calibri"/>
              </a:defRPr>
            </a:pPr>
            <a:r>
              <a:rPr sz="1050" b="0">
                <a:solidFill>
                  <a:srgbClr val="F7F3EA"/>
                </a:solidFill>
                <a:latin typeface="Calibri"/>
              </a:rPr>
              <a:t>✔ Real Sarvam AI Integration: Connected with live Sarvam API: Saaras STT &amp; Bulbul v3 TTS for native Indian speech.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050" b="0">
                <a:solidFill>
                  <a:srgbClr val="F7F3EA"/>
                </a:solidFill>
                <a:latin typeface="Calibri"/>
              </a:defRPr>
            </a:pPr>
            <a:r>
              <a:rPr sz="1050" b="0">
                <a:solidFill>
                  <a:srgbClr val="F7F3EA"/>
                </a:solidFill>
                <a:latin typeface="Calibri"/>
              </a:rPr>
              <a:t>✔ Automated 20-Scenario Verification: 10 CS cases, 3 Sales cases, 5 Escalations, and 2 Security refusals verified programmatically.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C9A961"/>
                </a:solidFill>
                <a:latin typeface="Calibri"/>
              </a:defRPr>
            </a:pPr>
            <a:r>
              <a:rPr sz="1150" b="1">
                <a:solidFill>
                  <a:srgbClr val="C9A961"/>
                </a:solidFill>
                <a:latin typeface="Calibri"/>
              </a:rPr>
              <a:t>02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591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3EA"/>
                </a:solidFill>
                <a:latin typeface="Cambria"/>
              </a:defRPr>
            </a:pPr>
            <a:r>
              <a:rPr sz="2400" b="1">
                <a:solidFill>
                  <a:srgbClr val="F7F3EA"/>
                </a:solidFill>
                <a:latin typeface="Cambria"/>
              </a:rPr>
              <a:t>Deterministic 6-State FSM &amp; End-to-End Voice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53312"/>
            <a:ext cx="1673352" cy="1874519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17904"/>
            <a:ext cx="1271016" cy="1545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01 LISTEN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Sarvam Saaras STT</a:t>
            </a:r>
            <a:br/>
            <a:r>
              <a:rPr sz="950" b="0">
                <a:solidFill>
                  <a:srgbClr val="F7F3EA"/>
                </a:solidFill>
                <a:latin typeface="Calibri"/>
              </a:rPr>
              <a:t>Hindi/Kannada/Eng</a:t>
            </a:r>
            <a:br/>
            <a:r>
              <a:rPr sz="950" b="0">
                <a:solidFill>
                  <a:srgbClr val="F7F3EA"/>
                </a:solidFill>
                <a:latin typeface="Calibri"/>
              </a:rPr>
              <a:t>Web Audio Waveform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353312"/>
            <a:ext cx="1673352" cy="1874519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15768" y="1517904"/>
            <a:ext cx="1271016" cy="1545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02 DIAGNOSE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Intent &amp; Entity Map</a:t>
            </a:r>
            <a:br/>
            <a:r>
              <a:rPr sz="950" b="0">
                <a:solidFill>
                  <a:srgbClr val="F7F3EA"/>
                </a:solidFill>
                <a:latin typeface="Calibri"/>
              </a:rPr>
              <a:t>Extract Amount/ID</a:t>
            </a:r>
            <a:br/>
            <a:r>
              <a:rPr sz="950" b="0">
                <a:solidFill>
                  <a:srgbClr val="F7F3EA"/>
                </a:solidFill>
                <a:latin typeface="Calibri"/>
              </a:rPr>
              <a:t>Confidence &gt;= 80%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53312"/>
            <a:ext cx="1673352" cy="1874519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517904"/>
            <a:ext cx="1271016" cy="1545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03 FETCH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Queries 6 Paytm APIs</a:t>
            </a:r>
            <a:br/>
            <a:r>
              <a:rPr sz="950" b="0">
                <a:solidFill>
                  <a:srgbClr val="F7F3EA"/>
                </a:solidFill>
                <a:latin typeface="Calibri"/>
              </a:rPr>
              <a:t>KYC, Switch, Device,</a:t>
            </a:r>
            <a:br/>
            <a:r>
              <a:rPr sz="950" b="0">
                <a:solidFill>
                  <a:srgbClr val="F7F3EA"/>
                </a:solidFill>
                <a:latin typeface="Calibri"/>
              </a:rPr>
              <a:t>Loan, CRM 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1353312"/>
            <a:ext cx="1673352" cy="1874519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7" y="1517904"/>
            <a:ext cx="1271016" cy="1545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04 ACT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Deterministic Action</a:t>
            </a:r>
            <a:br/>
            <a:r>
              <a:rPr sz="950" b="0">
                <a:solidFill>
                  <a:srgbClr val="F7F3EA"/>
                </a:solidFill>
                <a:latin typeface="Calibri"/>
              </a:rPr>
              <a:t>Retry Settlement</a:t>
            </a:r>
            <a:br/>
            <a:r>
              <a:rPr sz="950" b="0">
                <a:solidFill>
                  <a:srgbClr val="F7F3EA"/>
                </a:solidFill>
                <a:latin typeface="Calibri"/>
              </a:rPr>
              <a:t>Replace Soundbox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53312"/>
            <a:ext cx="1673352" cy="1874519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517904"/>
            <a:ext cx="1271016" cy="1545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05 VERIFY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Read-After-Write</a:t>
            </a:r>
            <a:br/>
            <a:r>
              <a:rPr sz="950" b="0">
                <a:solidFill>
                  <a:srgbClr val="F7F3EA"/>
                </a:solidFill>
                <a:latin typeface="Calibri"/>
              </a:rPr>
              <a:t>Gateway ACK 200</a:t>
            </a:r>
            <a:br/>
            <a:r>
              <a:rPr sz="950" b="0">
                <a:solidFill>
                  <a:srgbClr val="F7F3EA"/>
                </a:solidFill>
                <a:latin typeface="Calibri"/>
              </a:rPr>
              <a:t>Logistics AWB Sync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1353312"/>
            <a:ext cx="1673352" cy="1874519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48088" y="1517904"/>
            <a:ext cx="1271016" cy="1545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06 CLOSE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Closed CRM Ticket</a:t>
            </a:r>
            <a:br/>
            <a:r>
              <a:rPr sz="950" b="0">
                <a:solidFill>
                  <a:srgbClr val="F7F3EA"/>
                </a:solidFill>
                <a:latin typeface="Calibri"/>
              </a:rPr>
              <a:t>Proactive EMI Nudge</a:t>
            </a:r>
            <a:br/>
            <a:r>
              <a:rPr sz="950" b="0">
                <a:solidFill>
                  <a:srgbClr val="F7F3EA"/>
                </a:solidFill>
                <a:latin typeface="Calibri"/>
              </a:rPr>
              <a:t>SHA-256 Audit 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29000"/>
            <a:ext cx="3383280" cy="283464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593592"/>
            <a:ext cx="2980944" cy="2505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Voice Layer: Sarvam AI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00BAF2"/>
                </a:solidFill>
                <a:latin typeface="Calibri"/>
              </a:defRPr>
            </a:pPr>
            <a:r>
              <a:rPr sz="1050" b="1">
                <a:solidFill>
                  <a:srgbClr val="00BAF2"/>
                </a:solidFill>
                <a:latin typeface="Calibri"/>
              </a:rPr>
              <a:t>Purpose-Built for Indian Merchant Cadence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F7F3EA"/>
                </a:solidFill>
                <a:latin typeface="Calibri"/>
              </a:defRPr>
            </a:pPr>
            <a:r>
              <a:rPr sz="1000" b="0">
                <a:solidFill>
                  <a:srgbClr val="F7F3EA"/>
                </a:solidFill>
                <a:latin typeface="Calibri"/>
              </a:rPr>
              <a:t>• Sarvam Saaras v1 STT: Multilingual transcription for colloquial Hindi, Kannada, and Indian English.</a:t>
            </a:r>
            <a:br/>
            <a:r>
              <a:rPr sz="1000" b="0">
                <a:solidFill>
                  <a:srgbClr val="F7F3EA"/>
                </a:solidFill>
                <a:latin typeface="Calibri"/>
              </a:rPr>
              <a:t>• Sarvam Bulbul v3 TTS: Natural, expressive voice synthesis with authentic merchant greeting.</a:t>
            </a:r>
            <a:br/>
            <a:r>
              <a:rPr sz="1000" b="0">
                <a:solidFill>
                  <a:srgbClr val="F7F3EA"/>
                </a:solidFill>
                <a:latin typeface="Calibri"/>
              </a:rPr>
              <a:t>• Sub-Second Latency: Measured 0.80s total turn latency (well below &lt; 2.0s design SLA).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429000"/>
            <a:ext cx="3383280" cy="283464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3593592"/>
            <a:ext cx="2980944" cy="2505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Agent Core: Deterministic FSM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00BAF2"/>
                </a:solidFill>
                <a:latin typeface="Calibri"/>
              </a:defRPr>
            </a:pPr>
            <a:r>
              <a:rPr sz="1050" b="1">
                <a:solidFill>
                  <a:srgbClr val="00BAF2"/>
                </a:solidFill>
                <a:latin typeface="Calibri"/>
              </a:rPr>
              <a:t>Strict Safety &amp; Zero Black-Box Uncertainty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F7F3EA"/>
                </a:solidFill>
                <a:latin typeface="Calibri"/>
              </a:defRPr>
            </a:pPr>
            <a:r>
              <a:rPr sz="1000" b="0">
                <a:solidFill>
                  <a:srgbClr val="F7F3EA"/>
                </a:solidFill>
                <a:latin typeface="Calibri"/>
              </a:rPr>
              <a:t>• Deterministic State Machine: Explicit Python transition rules dictate all operations.</a:t>
            </a:r>
            <a:br/>
            <a:r>
              <a:rPr sz="1000" b="0">
                <a:solidFill>
                  <a:srgbClr val="F7F3EA"/>
                </a:solidFill>
                <a:latin typeface="Calibri"/>
              </a:rPr>
              <a:t>• Intent-to-Tool Mapper: Sarvam LLM maps voice to exact API contracts; zero arbitrary hallucinated execution.</a:t>
            </a:r>
            <a:br/>
            <a:r>
              <a:rPr sz="1000" b="0">
                <a:solidFill>
                  <a:srgbClr val="F7F3EA"/>
                </a:solidFill>
                <a:latin typeface="Calibri"/>
              </a:rPr>
              <a:t>• Read-After-Write Verification: Actions are never marked resolved until gateway ACK (200 OK) is verified.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429000"/>
            <a:ext cx="3383280" cy="283464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593592"/>
            <a:ext cx="2980944" cy="2505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Audit: Cryptographic Ledger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00BAF2"/>
                </a:solidFill>
                <a:latin typeface="Calibri"/>
              </a:defRPr>
            </a:pPr>
            <a:r>
              <a:rPr sz="1050" b="1">
                <a:solidFill>
                  <a:srgbClr val="00BAF2"/>
                </a:solidFill>
                <a:latin typeface="Calibri"/>
              </a:rPr>
              <a:t>SHA-256 Hash Chained &amp; Tamper-Evident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F7F3EA"/>
                </a:solidFill>
                <a:latin typeface="Calibri"/>
              </a:defRPr>
            </a:pPr>
            <a:r>
              <a:rPr sz="1000" b="0">
                <a:solidFill>
                  <a:srgbClr val="F7F3EA"/>
                </a:solidFill>
                <a:latin typeface="Calibri"/>
              </a:rPr>
              <a:t>• Hash-Chained Records: Every event appends SHA-256(index + timestamp + prev_hash + payload).</a:t>
            </a:r>
            <a:br/>
            <a:r>
              <a:rPr sz="1000" b="0">
                <a:solidFill>
                  <a:srgbClr val="F7F3EA"/>
                </a:solidFill>
                <a:latin typeface="Calibri"/>
              </a:rPr>
              <a:t>• Dual Persistence: In-memory cache + append-only disk ledger (audit/ledger.jsonl).</a:t>
            </a:r>
            <a:br/>
            <a:r>
              <a:rPr sz="1000" b="0">
                <a:solidFill>
                  <a:srgbClr val="F7F3EA"/>
                </a:solidFill>
                <a:latin typeface="Calibri"/>
              </a:rPr>
              <a:t>• Live Tamper Proof: Interactive UI mutates Block #2 to demonstrate instant hash violation &amp; self-healing restore.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C9A961"/>
                </a:solidFill>
                <a:latin typeface="Calibri"/>
              </a:defRPr>
            </a:pPr>
            <a:r>
              <a:rPr sz="1150" b="1">
                <a:solidFill>
                  <a:srgbClr val="C9A961"/>
                </a:solidFill>
                <a:latin typeface="Calibri"/>
              </a:rPr>
              <a:t>03 BACKEND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591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3EA"/>
                </a:solidFill>
                <a:latin typeface="Cambria"/>
              </a:defRPr>
            </a:pPr>
            <a:r>
              <a:rPr sz="2400" b="1">
                <a:solidFill>
                  <a:srgbClr val="F7F3EA"/>
                </a:solidFill>
                <a:latin typeface="Cambria"/>
              </a:rPr>
              <a:t>Complete Multi-System Integrations: 6 Paytm API Surfaces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224028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30266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1. Merchant Profile &amp; KYC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850" b="0">
                <a:solidFill>
                  <a:srgbClr val="00BAF2"/>
                </a:solidFill>
                <a:latin typeface="Consolas"/>
              </a:defRPr>
            </a:pPr>
            <a:r>
              <a:rPr sz="850" b="0">
                <a:solidFill>
                  <a:srgbClr val="00BAF2"/>
                </a:solidFill>
                <a:latin typeface="Consolas"/>
              </a:rPr>
              <a:t>GET /api/v1/merchant/{id}/profile</a:t>
            </a:r>
            <a:br/>
            <a:r>
              <a:rPr sz="850" b="0">
                <a:solidFill>
                  <a:srgbClr val="00BAF2"/>
                </a:solidFill>
                <a:latin typeface="Consolas"/>
              </a:rPr>
              <a:t>GET /api/v1/merchant/{id}/kyc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Resolves caller identity, daily transaction limits, KYC verification tier (Gold/Platinum), and account freeze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29000" cy="224028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581912"/>
            <a:ext cx="30266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2. Settlement &amp; Payment Gateway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850" b="0">
                <a:solidFill>
                  <a:srgbClr val="00BAF2"/>
                </a:solidFill>
                <a:latin typeface="Consolas"/>
              </a:defRPr>
            </a:pPr>
            <a:r>
              <a:rPr sz="850" b="0">
                <a:solidFill>
                  <a:srgbClr val="00BAF2"/>
                </a:solidFill>
                <a:latin typeface="Consolas"/>
              </a:rPr>
              <a:t>GET /api/v1/settlement/{id}/status</a:t>
            </a:r>
            <a:br/>
            <a:r>
              <a:rPr sz="850" b="0">
                <a:solidFill>
                  <a:srgbClr val="00BAF2"/>
                </a:solidFill>
                <a:latin typeface="Consolas"/>
              </a:rPr>
              <a:t>POST /api/v1/settlement/{id}/retry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Queries delayed settlement batches, checks bank holiday flags, dispatches payment retry jobs to NPCI switch with read-after-write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17320"/>
            <a:ext cx="3429000" cy="224028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1581912"/>
            <a:ext cx="30266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3. Device &amp; Logistics (Soundbox 4G)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850" b="0">
                <a:solidFill>
                  <a:srgbClr val="00BAF2"/>
                </a:solidFill>
                <a:latin typeface="Consolas"/>
              </a:defRPr>
            </a:pPr>
            <a:r>
              <a:rPr sz="850" b="0">
                <a:solidFill>
                  <a:srgbClr val="00BAF2"/>
                </a:solidFill>
                <a:latin typeface="Consolas"/>
              </a:rPr>
              <a:t>GET /api/v1/device/{id}/status</a:t>
            </a:r>
            <a:br/>
            <a:r>
              <a:rPr sz="850" b="0">
                <a:solidFill>
                  <a:srgbClr val="00BAF2"/>
                </a:solidFill>
                <a:latin typeface="Consolas"/>
              </a:rPr>
              <a:t>POST /api/v1/device/{id}/replace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Queries Soundbox 4G telemetry (SIM signal, speaker fault, battery), automatically creates Blue Dart courier replacement orders.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429000" cy="224028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05072"/>
            <a:ext cx="30266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4. Loan &amp; EMI Management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850" b="0">
                <a:solidFill>
                  <a:srgbClr val="00BAF2"/>
                </a:solidFill>
                <a:latin typeface="Consolas"/>
              </a:defRPr>
            </a:pPr>
            <a:r>
              <a:rPr sz="850" b="0">
                <a:solidFill>
                  <a:srgbClr val="00BAF2"/>
                </a:solidFill>
                <a:latin typeface="Consolas"/>
              </a:rPr>
              <a:t>GET /api/v1/loan/{id}/status</a:t>
            </a:r>
            <a:br/>
            <a:r>
              <a:rPr sz="850" b="0">
                <a:solidFill>
                  <a:srgbClr val="00BAF2"/>
                </a:solidFill>
                <a:latin typeface="Consolas"/>
              </a:rPr>
              <a:t>POST /api/v1/loan/{id}/emi/send-link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Inspects merchant loan accounts, queries upcoming EMI due date and amount, sends UPI payment links for pre-collection.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840480"/>
            <a:ext cx="3429000" cy="224028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4005072"/>
            <a:ext cx="30266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5. CRM &amp; Ticketing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850" b="0">
                <a:solidFill>
                  <a:srgbClr val="00BAF2"/>
                </a:solidFill>
                <a:latin typeface="Consolas"/>
              </a:defRPr>
            </a:pPr>
            <a:r>
              <a:rPr sz="850" b="0">
                <a:solidFill>
                  <a:srgbClr val="00BAF2"/>
                </a:solidFill>
                <a:latin typeface="Consolas"/>
              </a:rPr>
              <a:t>POST /api/v1/crm/ticket/create</a:t>
            </a:r>
            <a:br/>
            <a:r>
              <a:rPr sz="850" b="0">
                <a:solidFill>
                  <a:srgbClr val="00BAF2"/>
                </a:solidFill>
                <a:latin typeface="Consolas"/>
              </a:rPr>
              <a:t>GET /api/v1/crm/ticket/{id}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Maintains audit synchronization by logging autonomously resolved tickets or priority tickets flagged with 4-part escalation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3840480"/>
            <a:ext cx="3429000" cy="224028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4005072"/>
            <a:ext cx="30266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6. Sales Outreach &amp; Nudges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850" b="0">
                <a:solidFill>
                  <a:srgbClr val="00BAF2"/>
                </a:solidFill>
                <a:latin typeface="Consolas"/>
              </a:defRPr>
            </a:pPr>
            <a:r>
              <a:rPr sz="850" b="0">
                <a:solidFill>
                  <a:srgbClr val="00BAF2"/>
                </a:solidFill>
                <a:latin typeface="Consolas"/>
              </a:rPr>
              <a:t>POST /api/v1/sales/payment-link/send</a:t>
            </a:r>
            <a:br/>
            <a:r>
              <a:rPr sz="850" b="0">
                <a:solidFill>
                  <a:srgbClr val="00BAF2"/>
                </a:solidFill>
                <a:latin typeface="Consolas"/>
              </a:rPr>
              <a:t>POST /api/v1/sales/nudge/trigger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Dispatches instant SMS push banners for proactive EMI recovery, festive pre-approved loans, and Soundbox 4G upgrades.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C9A961"/>
                </a:solidFill>
                <a:latin typeface="Calibri"/>
              </a:defRPr>
            </a:pPr>
            <a:r>
              <a:rPr sz="1150" b="1">
                <a:solidFill>
                  <a:srgbClr val="C9A961"/>
                </a:solidFill>
                <a:latin typeface="Calibri"/>
              </a:rPr>
              <a:t>04 ENTERPRISE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591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3EA"/>
                </a:solidFill>
                <a:latin typeface="Cambria"/>
              </a:defRPr>
            </a:pPr>
            <a:r>
              <a:rPr sz="2400" b="1">
                <a:solidFill>
                  <a:srgbClr val="F7F3EA"/>
                </a:solidFill>
                <a:latin typeface="Cambria"/>
              </a:rPr>
              <a:t>Safety by Design: 5 Deterministic Guardrail Gates &amp; Escalation Handoff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66360" cy="484632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36192"/>
            <a:ext cx="4764024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5 Deterministic Safety Gates (Zero Black-Box Money Risk)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00BAF2"/>
                </a:solidFill>
                <a:latin typeface="Calibri"/>
              </a:defRPr>
            </a:pPr>
            <a:r>
              <a:rPr sz="1050" b="1">
                <a:solidFill>
                  <a:srgbClr val="00BAF2"/>
                </a:solidFill>
                <a:latin typeface="Calibri"/>
              </a:rPr>
              <a:t>Every action must pass all 5 gates before any tool execution occurs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1050" b="1">
                <a:solidFill>
                  <a:srgbClr val="C9A961"/>
                </a:solidFill>
                <a:latin typeface="Calibri"/>
              </a:defRPr>
            </a:pPr>
            <a:r>
              <a:rPr sz="1050" b="1">
                <a:solidFill>
                  <a:srgbClr val="C9A961"/>
                </a:solidFill>
                <a:latin typeface="Calibri"/>
              </a:rPr>
              <a:t>🔒 Gate 1: Caller Authentication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Verifies caller phone number against merchant's registered KYC profile. Blocks spoofed calls.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1050" b="1">
                <a:solidFill>
                  <a:srgbClr val="C9A961"/>
                </a:solidFill>
                <a:latin typeface="Calibri"/>
              </a:defRPr>
            </a:pPr>
            <a:r>
              <a:rPr sz="1050" b="1">
                <a:solidFill>
                  <a:srgbClr val="C9A961"/>
                </a:solidFill>
                <a:latin typeface="Calibri"/>
              </a:rPr>
              <a:t>🔒 Gate 2: Account Status &amp; Fraud Check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Checks active risk flags, chargeback holds, and legal disputes. Merchants with fraud flags are halted.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1050" b="1">
                <a:solidFill>
                  <a:srgbClr val="C9A961"/>
                </a:solidFill>
                <a:latin typeface="Calibri"/>
              </a:defRPr>
            </a:pPr>
            <a:r>
              <a:rPr sz="1050" b="1">
                <a:solidFill>
                  <a:srgbClr val="C9A961"/>
                </a:solidFill>
                <a:latin typeface="Calibri"/>
              </a:rPr>
              <a:t>🔒 Gate 3: Confidence Threshold (&gt;= 80%)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Requires &gt;= 80% diagnostic confidence from LLM. Unintelligible speech routes to human.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1050" b="1">
                <a:solidFill>
                  <a:srgbClr val="C9A961"/>
                </a:solidFill>
                <a:latin typeface="Calibri"/>
              </a:defRPr>
            </a:pPr>
            <a:r>
              <a:rPr sz="1050" b="1">
                <a:solidFill>
                  <a:srgbClr val="C9A961"/>
                </a:solidFill>
                <a:latin typeface="Calibri"/>
              </a:rPr>
              <a:t>🔒 Gate 4: ₹50,000 Hard Transaction Cap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Strict ceiling on autonomous settlement retries or refunds. Requests &gt; ₹50,000 trip Gate 4 in red.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1050" b="1">
                <a:solidFill>
                  <a:srgbClr val="C9A961"/>
                </a:solidFill>
                <a:latin typeface="Calibri"/>
              </a:defRPr>
            </a:pPr>
            <a:r>
              <a:rPr sz="1050" b="1">
                <a:solidFill>
                  <a:srgbClr val="C9A961"/>
                </a:solidFill>
                <a:latin typeface="Calibri"/>
              </a:rPr>
              <a:t>🔒 Gate 5: Idempotency Barrier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Enforces a fingerprint cooldown on rapid identical actions to prevent accidental double-credits or replay attacks.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57800" cy="484632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536192"/>
            <a:ext cx="4855464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Senior Specialist Support Console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00BAF2"/>
                </a:solidFill>
                <a:latin typeface="Calibri"/>
              </a:defRPr>
            </a:pPr>
            <a:r>
              <a:rPr sz="1050" b="1">
                <a:solidFill>
                  <a:srgbClr val="00BAF2"/>
                </a:solidFill>
                <a:latin typeface="Calibri"/>
              </a:rPr>
              <a:t>Zero Context Loss — Human Agents Never Start from Zero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050" b="0">
                <a:solidFill>
                  <a:srgbClr val="8EA0BA"/>
                </a:solidFill>
                <a:latin typeface="Calibri"/>
              </a:defRPr>
            </a:pPr>
            <a:r>
              <a:rPr sz="1050" b="0">
                <a:solidFill>
                  <a:srgbClr val="8EA0BA"/>
                </a:solidFill>
                <a:latin typeface="Calibri"/>
              </a:rPr>
              <a:t>When any safety gate trips, Sahayak immediately constructs a structured 4-part Escalation Packet dispatched to the Support Console:</a:t>
            </a:r>
            <a:br/>
          </a:p>
          <a:p>
            <a:pPr>
              <a:spcBef>
                <a:spcPts val="500"/>
              </a:spcBef>
              <a:spcAft>
                <a:spcPts val="0"/>
              </a:spcAft>
              <a:defRPr sz="1050" b="0">
                <a:solidFill>
                  <a:srgbClr val="F7F3EA"/>
                </a:solidFill>
                <a:latin typeface="Calibri"/>
              </a:defRPr>
            </a:pPr>
            <a:r>
              <a:rPr sz="1050" b="0">
                <a:solidFill>
                  <a:srgbClr val="F7F3EA"/>
                </a:solidFill>
                <a:latin typeface="Calibri"/>
              </a:rPr>
              <a:t>✔ 1. Issue Summary: Exact root issue diagnosed from merchant voice utterance.</a:t>
            </a:r>
          </a:p>
          <a:p>
            <a:pPr>
              <a:spcBef>
                <a:spcPts val="500"/>
              </a:spcBef>
              <a:spcAft>
                <a:spcPts val="0"/>
              </a:spcAft>
              <a:defRPr sz="1050" b="0">
                <a:solidFill>
                  <a:srgbClr val="F7F3EA"/>
                </a:solidFill>
                <a:latin typeface="Calibri"/>
              </a:defRPr>
            </a:pPr>
            <a:r>
              <a:rPr sz="1050" b="0">
                <a:solidFill>
                  <a:srgbClr val="F7F3EA"/>
                </a:solidFill>
                <a:latin typeface="Calibri"/>
              </a:rPr>
              <a:t>✔ 2. What Sahayak Tried: Full step-by-step reasoning trace with system observations and tool attempts.</a:t>
            </a:r>
          </a:p>
          <a:p>
            <a:pPr>
              <a:spcBef>
                <a:spcPts val="500"/>
              </a:spcBef>
              <a:spcAft>
                <a:spcPts val="0"/>
              </a:spcAft>
              <a:defRPr sz="1050" b="0">
                <a:solidFill>
                  <a:srgbClr val="F7F3EA"/>
                </a:solidFill>
                <a:latin typeface="Calibri"/>
              </a:defRPr>
            </a:pPr>
            <a:r>
              <a:rPr sz="1050" b="0">
                <a:solidFill>
                  <a:srgbClr val="F7F3EA"/>
                </a:solidFill>
                <a:latin typeface="Calibri"/>
              </a:rPr>
              <a:t>✔ 3. Next Recommended Action: Clear algorithmic recommendation (e.g., 'Authorize manual wire release').</a:t>
            </a:r>
          </a:p>
          <a:p>
            <a:pPr>
              <a:spcBef>
                <a:spcPts val="500"/>
              </a:spcBef>
              <a:spcAft>
                <a:spcPts val="0"/>
              </a:spcAft>
              <a:defRPr sz="1050" b="0">
                <a:solidFill>
                  <a:srgbClr val="F7F3EA"/>
                </a:solidFill>
                <a:latin typeface="Calibri"/>
              </a:defRPr>
            </a:pPr>
            <a:r>
              <a:rPr sz="1050" b="0">
                <a:solidFill>
                  <a:srgbClr val="F7F3EA"/>
                </a:solidFill>
                <a:latin typeface="Calibri"/>
              </a:rPr>
              <a:t>✔ 4. Complete Transcript: Turn-by-turn verbatim dialog history in native language and English.</a:t>
            </a:r>
          </a:p>
          <a:p>
            <a:br/>
            <a:pPr>
              <a:spcBef>
                <a:spcPts val="600"/>
              </a:spcBef>
              <a:spcAft>
                <a:spcPts val="0"/>
              </a:spcAft>
              <a:defRPr sz="1000" b="1">
                <a:solidFill>
                  <a:srgbClr val="C9A961"/>
                </a:solidFill>
                <a:latin typeface="Calibri"/>
              </a:defRPr>
            </a:pPr>
            <a:r>
              <a:rPr sz="1000" b="1">
                <a:solidFill>
                  <a:srgbClr val="C9A961"/>
                </a:solidFill>
                <a:latin typeface="Calibri"/>
              </a:rPr>
              <a:t>Live Proof: Clicking 'Release ₹1,20,000 settlement' trips Gate 4 in red and populates the Support Console live.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C9A961"/>
                </a:solidFill>
                <a:latin typeface="Calibri"/>
              </a:defRPr>
            </a:pPr>
            <a:r>
              <a:rPr sz="1150" b="1">
                <a:solidFill>
                  <a:srgbClr val="C9A961"/>
                </a:solidFill>
                <a:latin typeface="Calibri"/>
              </a:rPr>
              <a:t>05 PROTOTYPE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591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3EA"/>
                </a:solidFill>
                <a:latin typeface="Cambria"/>
              </a:defRPr>
            </a:pPr>
            <a:r>
              <a:rPr sz="2400" b="1">
                <a:solidFill>
                  <a:srgbClr val="F7F3EA"/>
                </a:solidFill>
                <a:latin typeface="Cambria"/>
              </a:rPr>
              <a:t>Live Prototype Interface (Served on Localhost:8000)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36192"/>
            <a:ext cx="2980944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Merchant Voice Experience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00BAF2"/>
                </a:solidFill>
                <a:latin typeface="Calibri"/>
              </a:defRPr>
            </a:pPr>
            <a:r>
              <a:rPr sz="1050" b="1">
                <a:solidFill>
                  <a:srgbClr val="00BAF2"/>
                </a:solidFill>
                <a:latin typeface="Calibri"/>
              </a:rPr>
              <a:t>Authentic Light Theme Phone Simulator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F7F3EA"/>
                </a:solidFill>
                <a:latin typeface="Calibri"/>
              </a:defRPr>
            </a:pPr>
            <a:r>
              <a:rPr sz="1000" b="0">
                <a:solidFill>
                  <a:srgbClr val="F7F3EA"/>
                </a:solidFill>
                <a:latin typeface="Calibri"/>
              </a:rPr>
              <a:t>• Real Microphone Amplitude: Web Audio API animates live canvas waveform with sub-second response.</a:t>
            </a:r>
            <a:br/>
            <a:br/>
            <a:r>
              <a:rPr sz="1000" b="0">
                <a:solidFill>
                  <a:srgbClr val="F7F3EA"/>
                </a:solidFill>
                <a:latin typeface="Calibri"/>
              </a:rPr>
              <a:t>• Multi-lingual Speech Intake: Hindi ('Kal ka paisa nahi aaya') and Kannada ('Soundbox bol nahi raha').</a:t>
            </a:r>
            <a:br/>
            <a:br/>
            <a:r>
              <a:rPr sz="1000" b="0">
                <a:solidFill>
                  <a:srgbClr val="F7F3EA"/>
                </a:solidFill>
                <a:latin typeface="Calibri"/>
              </a:rPr>
              <a:t>• Streaming Typewriter Transcript: Live language detection badge ([Hindi · 96%]).</a:t>
            </a:r>
            <a:br/>
            <a:br/>
            <a:r>
              <a:rPr sz="1000" b="0">
                <a:solidFill>
                  <a:srgbClr val="F7F3EA"/>
                </a:solidFill>
                <a:latin typeface="Calibri"/>
              </a:rPr>
              <a:t>• Sarvam Bulbul Voice Playback: High-fidelity audio played with dedicated replay button.</a:t>
            </a:r>
            <a:br/>
            <a:br/>
            <a:r>
              <a:rPr sz="1000" b="0">
                <a:solidFill>
                  <a:srgbClr val="F7F3EA"/>
                </a:solidFill>
                <a:latin typeface="Calibri"/>
              </a:rPr>
              <a:t>• Proactive Push Banners: In-app notifications for settlement retries &amp; upcoming EMI links.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536192"/>
            <a:ext cx="2980944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Agent Brain Telemetry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00BAF2"/>
                </a:solidFill>
                <a:latin typeface="Calibri"/>
              </a:defRPr>
            </a:pPr>
            <a:r>
              <a:rPr sz="1050" b="1">
                <a:solidFill>
                  <a:srgbClr val="00BAF2"/>
                </a:solidFill>
                <a:latin typeface="Calibri"/>
              </a:rPr>
              <a:t>Real-Time Execution Stream (Matched Height)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F7F3EA"/>
                </a:solidFill>
                <a:latin typeface="Calibri"/>
              </a:defRPr>
            </a:pPr>
            <a:r>
              <a:rPr sz="1000" b="0">
                <a:solidFill>
                  <a:srgbClr val="F7F3EA"/>
                </a:solidFill>
                <a:latin typeface="Calibri"/>
              </a:rPr>
              <a:t>• Ghost Timeline: Greyed-out in idle state, eliminates visual layout jumps.</a:t>
            </a:r>
            <a:br/>
            <a:br/>
            <a:r>
              <a:rPr sz="1000" b="0">
                <a:solidFill>
                  <a:srgbClr val="F7F3EA"/>
                </a:solidFill>
                <a:latin typeface="Calibri"/>
              </a:rPr>
              <a:t>• Live Step Animation: Spinner -&gt; Checkmark with real ms latencies.</a:t>
            </a:r>
            <a:br/>
            <a:br/>
            <a:r>
              <a:rPr sz="1000" b="0">
                <a:solidFill>
                  <a:srgbClr val="F7F3EA"/>
                </a:solidFill>
                <a:latin typeface="Calibri"/>
              </a:rPr>
              <a:t>• 6-API Surface Strip: Lights up cyan as endpoints are queried or mutated.</a:t>
            </a:r>
            <a:br/>
            <a:br/>
            <a:r>
              <a:rPr sz="1000" b="0">
                <a:solidFill>
                  <a:srgbClr val="F7F3EA"/>
                </a:solidFill>
                <a:latin typeface="Calibri"/>
              </a:rPr>
              <a:t>• Read-After-Write Receipt: Verifies NPCI gateway ACK 200 &amp; Blue Dart AWB before close.</a:t>
            </a:r>
            <a:br/>
            <a:br/>
            <a:r>
              <a:rPr sz="1000" b="0">
                <a:solidFill>
                  <a:srgbClr val="F7F3EA"/>
                </a:solidFill>
                <a:latin typeface="Calibri"/>
              </a:rPr>
              <a:t>• Latency Breakdown Bar: Segmented visualization of STT (45%), LLM (25%), Tools (18%), TTS (12%).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536192"/>
            <a:ext cx="2980944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Safety &amp; Audit Consoles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00BAF2"/>
                </a:solidFill>
                <a:latin typeface="Calibri"/>
              </a:defRPr>
            </a:pPr>
            <a:r>
              <a:rPr sz="1050" b="1">
                <a:solidFill>
                  <a:srgbClr val="00BAF2"/>
                </a:solidFill>
                <a:latin typeface="Calibri"/>
              </a:rPr>
              <a:t>Interactive Drawers for Jury Verification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F7F3EA"/>
                </a:solidFill>
                <a:latin typeface="Calibri"/>
              </a:defRPr>
            </a:pPr>
            <a:r>
              <a:rPr sz="1000" b="0">
                <a:solidFill>
                  <a:srgbClr val="F7F3EA"/>
                </a:solidFill>
                <a:latin typeface="Calibri"/>
              </a:rPr>
              <a:t>• Red Guardrail Interception: Flashing banner intercepts &gt; ₹50K attempts before tool execution.</a:t>
            </a:r>
            <a:br/>
            <a:br/>
            <a:r>
              <a:rPr sz="1000" b="0">
                <a:solidFill>
                  <a:srgbClr val="F7F3EA"/>
                </a:solidFill>
                <a:latin typeface="Calibri"/>
              </a:rPr>
              <a:t>• Specialist Support Console: Dark-mode handoff console displaying the complete 4-part packet.</a:t>
            </a:r>
            <a:br/>
            <a:br/>
            <a:r>
              <a:rPr sz="1000" b="0">
                <a:solidFill>
                  <a:srgbClr val="F7F3EA"/>
                </a:solidFill>
                <a:latin typeface="Calibri"/>
              </a:rPr>
              <a:t>• Cryptographic Audit Drawer: Fully opaque, append-only SHA-256 ledger.</a:t>
            </a:r>
            <a:br/>
            <a:br/>
            <a:r>
              <a:rPr sz="1000" b="0">
                <a:solidFill>
                  <a:srgbClr val="F7F3EA"/>
                </a:solidFill>
                <a:latin typeface="Calibri"/>
              </a:rPr>
              <a:t>• Tamper Demonstration: Mutates Block #2 to show hash chain break &amp; self-healing restore.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C9A961"/>
                </a:solidFill>
                <a:latin typeface="Calibri"/>
              </a:defRPr>
            </a:pPr>
            <a:r>
              <a:rPr sz="1150" b="1">
                <a:solidFill>
                  <a:srgbClr val="C9A961"/>
                </a:solidFill>
                <a:latin typeface="Calibri"/>
              </a:rPr>
              <a:t>06 EVALUATION &amp;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591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3EA"/>
                </a:solidFill>
                <a:latin typeface="Cambria"/>
              </a:defRPr>
            </a:pPr>
            <a:r>
              <a:rPr sz="2400" b="1">
                <a:solidFill>
                  <a:srgbClr val="F7F3EA"/>
                </a:solidFill>
                <a:latin typeface="Cambria"/>
              </a:rPr>
              <a:t>Automated Verification: All 6 Design Targets Validated (20/20 Passed)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53312"/>
          <a:ext cx="1072591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  <a:gridCol w="2011680"/>
                <a:gridCol w="3410712"/>
              </a:tblGrid>
              <a:tr h="4180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C9A961"/>
                          </a:solidFill>
                          <a:latin typeface="Calibri"/>
                        </a:defRPr>
                      </a:pPr>
                      <a:r>
                        <a:rPr sz="1100" b="1">
                          <a:solidFill>
                            <a:srgbClr val="C9A961"/>
                          </a:solidFill>
                          <a:latin typeface="Calibri"/>
                        </a:rPr>
                        <a:t>Design Target Metric</a:t>
                      </a:r>
                    </a:p>
                  </a:txBody>
                  <a:tcPr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C9A961"/>
                          </a:solidFill>
                          <a:latin typeface="Calibri"/>
                        </a:defRPr>
                      </a:pPr>
                      <a:r>
                        <a:rPr sz="1100" b="1">
                          <a:solidFill>
                            <a:srgbClr val="C9A961"/>
                          </a:solidFill>
                          <a:latin typeface="Calibri"/>
                        </a:rPr>
                        <a:t>Pitch Deck Target</a:t>
                      </a:r>
                    </a:p>
                  </a:txBody>
                  <a:tcPr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C9A961"/>
                          </a:solidFill>
                          <a:latin typeface="Calibri"/>
                        </a:defRPr>
                      </a:pPr>
                      <a:r>
                        <a:rPr sz="1100" b="1">
                          <a:solidFill>
                            <a:srgbClr val="C9A961"/>
                          </a:solidFill>
                          <a:latin typeface="Calibri"/>
                        </a:rPr>
                        <a:t>Prototype Measured</a:t>
                      </a:r>
                    </a:p>
                  </a:txBody>
                  <a:tcPr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C9A961"/>
                          </a:solidFill>
                          <a:latin typeface="Calibri"/>
                        </a:defRPr>
                      </a:pPr>
                      <a:r>
                        <a:rPr sz="1100" b="1">
                          <a:solidFill>
                            <a:srgbClr val="C9A961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D1B33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F7F3EA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F7F3EA"/>
                          </a:solidFill>
                          <a:latin typeface="Calibri"/>
                        </a:rPr>
                        <a:t>Autonomous CS Resolution Rate</a:t>
                      </a:r>
                    </a:p>
                  </a:txBody>
                  <a:tcPr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8EA0BA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8EA0BA"/>
                          </a:solidFill>
                          <a:latin typeface="Calibri"/>
                        </a:rPr>
                        <a:t>&gt;= 70.0%</a:t>
                      </a:r>
                    </a:p>
                  </a:txBody>
                  <a:tcPr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C9A961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C9A961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BA672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1BA672"/>
                          </a:solidFill>
                          <a:latin typeface="Calibri"/>
                        </a:rPr>
                        <a:t>PASSED (10/10 Cases Resolved)</a:t>
                      </a:r>
                    </a:p>
                  </a:txBody>
                  <a:tcPr>
                    <a:solidFill>
                      <a:srgbClr val="0D1B33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F7F3EA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F7F3EA"/>
                          </a:solidFill>
                          <a:latin typeface="Calibri"/>
                        </a:rPr>
                        <a:t>Unsafe Money Actions Executed</a:t>
                      </a:r>
                    </a:p>
                  </a:txBody>
                  <a:tcPr>
                    <a:solidFill>
                      <a:srgbClr val="09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8EA0BA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8EA0BA"/>
                          </a:solidFill>
                          <a:latin typeface="Calibri"/>
                        </a:rPr>
                        <a:t>0 (Zero)</a:t>
                      </a:r>
                    </a:p>
                  </a:txBody>
                  <a:tcPr>
                    <a:solidFill>
                      <a:srgbClr val="09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C9A961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C9A96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09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BA672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1BA672"/>
                          </a:solidFill>
                          <a:latin typeface="Calibri"/>
                        </a:rPr>
                        <a:t>PASSED (Zero Money Risk)</a:t>
                      </a:r>
                    </a:p>
                  </a:txBody>
                  <a:tcPr>
                    <a:solidFill>
                      <a:srgbClr val="09122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F7F3EA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F7F3EA"/>
                          </a:solidFill>
                          <a:latin typeface="Calibri"/>
                        </a:rPr>
                        <a:t>Voice Response Turn Latency</a:t>
                      </a:r>
                    </a:p>
                  </a:txBody>
                  <a:tcPr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8EA0BA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8EA0BA"/>
                          </a:solidFill>
                          <a:latin typeface="Calibri"/>
                        </a:rPr>
                        <a:t>&lt; 2.00 s</a:t>
                      </a:r>
                    </a:p>
                  </a:txBody>
                  <a:tcPr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C9A961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C9A961"/>
                          </a:solidFill>
                          <a:latin typeface="Calibri"/>
                        </a:rPr>
                        <a:t>0.80 s</a:t>
                      </a:r>
                    </a:p>
                  </a:txBody>
                  <a:tcPr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BA672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1BA672"/>
                          </a:solidFill>
                          <a:latin typeface="Calibri"/>
                        </a:rPr>
                        <a:t>PASSED (Sarvam Pipeline)</a:t>
                      </a:r>
                    </a:p>
                  </a:txBody>
                  <a:tcPr>
                    <a:solidFill>
                      <a:srgbClr val="0D1B33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F7F3EA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F7F3EA"/>
                          </a:solidFill>
                          <a:latin typeface="Calibri"/>
                        </a:rPr>
                        <a:t>Cryptographic Audit Trail Coverage</a:t>
                      </a:r>
                    </a:p>
                  </a:txBody>
                  <a:tcPr>
                    <a:solidFill>
                      <a:srgbClr val="09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8EA0BA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8EA0BA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09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C9A961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C9A961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09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BA672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1BA672"/>
                          </a:solidFill>
                          <a:latin typeface="Calibri"/>
                        </a:rPr>
                        <a:t>PASSED (Valid SHA-256 Chain)</a:t>
                      </a:r>
                    </a:p>
                  </a:txBody>
                  <a:tcPr>
                    <a:solidFill>
                      <a:srgbClr val="09122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F7F3EA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F7F3EA"/>
                          </a:solidFill>
                          <a:latin typeface="Calibri"/>
                        </a:rPr>
                        <a:t>Escalation Trigger Accuracy</a:t>
                      </a:r>
                    </a:p>
                  </a:txBody>
                  <a:tcPr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8EA0BA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8EA0BA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C9A961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C9A961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BA672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1BA672"/>
                          </a:solidFill>
                          <a:latin typeface="Calibri"/>
                        </a:rPr>
                        <a:t>PASSED (5/5 Correctly Tripped)</a:t>
                      </a:r>
                    </a:p>
                  </a:txBody>
                  <a:tcPr>
                    <a:solidFill>
                      <a:srgbClr val="0D1B33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F7F3EA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F7F3EA"/>
                          </a:solidFill>
                          <a:latin typeface="Calibri"/>
                        </a:rPr>
                        <a:t>Senior Handoff Packet Completeness</a:t>
                      </a:r>
                    </a:p>
                  </a:txBody>
                  <a:tcPr>
                    <a:solidFill>
                      <a:srgbClr val="09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8EA0BA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8EA0BA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09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C9A961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C9A961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09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BA672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1BA672"/>
                          </a:solidFill>
                          <a:latin typeface="Calibri"/>
                        </a:rPr>
                        <a:t>PASSED (All 4 Fields Verified)</a:t>
                      </a:r>
                    </a:p>
                  </a:txBody>
                  <a:tcPr>
                    <a:solidFill>
                      <a:srgbClr val="09122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526280"/>
            <a:ext cx="2606040" cy="169164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690872"/>
            <a:ext cx="2203704" cy="1362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CS Inquiries (10 Cases)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Settlement delay, Soundbox speaker, UPI missing sync, Account limit KYC, EMI links.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526280"/>
            <a:ext cx="2606040" cy="169164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4690872"/>
            <a:ext cx="2203704" cy="1362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Proactive Sales (3 Cases)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EMI due tomorrow reminder, Soundbox 4G retention nudge, Pre-approved loan offer.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526280"/>
            <a:ext cx="2606040" cy="169164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4690872"/>
            <a:ext cx="2203704" cy="1362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Must-Escalate (5 Cases)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Active fraud flag, High-value &gt; ₹50K cap, Dispute hold, Caller distress, Low confidence.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4526280"/>
            <a:ext cx="2606040" cy="169164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5128" y="4690872"/>
            <a:ext cx="2203704" cy="1362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Security Refusals (2 Cases)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950" b="0">
                <a:solidFill>
                  <a:srgbClr val="F7F3EA"/>
                </a:solidFill>
                <a:latin typeface="Calibri"/>
              </a:defRPr>
            </a:pPr>
            <a:r>
              <a:rPr sz="950" b="0">
                <a:solidFill>
                  <a:srgbClr val="F7F3EA"/>
                </a:solidFill>
                <a:latin typeface="Calibri"/>
              </a:rPr>
              <a:t>Spoofed caller phone number rejected, Duplicate rapid double-click replay blocked.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C9A961"/>
                </a:solidFill>
                <a:latin typeface="Calibri"/>
              </a:defRPr>
            </a:pPr>
            <a:r>
              <a:rPr sz="1150" b="1">
                <a:solidFill>
                  <a:srgbClr val="C9A961"/>
                </a:solidFill>
                <a:latin typeface="Calibri"/>
              </a:rPr>
              <a:t>07 BUSINESS IMPACT &amp;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591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3EA"/>
                </a:solidFill>
                <a:latin typeface="Cambria"/>
              </a:defRPr>
            </a:pPr>
            <a:r>
              <a:rPr sz="2400" b="1">
                <a:solidFill>
                  <a:srgbClr val="F7F3EA"/>
                </a:solidFill>
                <a:latin typeface="Cambria"/>
              </a:rPr>
              <a:t>Business Model &amp; Production Deployment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36192"/>
            <a:ext cx="2980944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1. Cost Reduction (Save)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00BAF2"/>
                </a:solidFill>
                <a:latin typeface="Calibri"/>
              </a:defRPr>
            </a:pPr>
            <a:r>
              <a:rPr sz="1050" b="1">
                <a:solidFill>
                  <a:srgbClr val="00BAF2"/>
                </a:solidFill>
                <a:latin typeface="Calibri"/>
              </a:rPr>
              <a:t>Bending the ₹339 Cr/Quarter Servicing Curve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F7F3EA"/>
                </a:solidFill>
                <a:latin typeface="Calibri"/>
              </a:defRPr>
            </a:pPr>
            <a:r>
              <a:rPr sz="1000" b="0">
                <a:solidFill>
                  <a:srgbClr val="F7F3EA"/>
                </a:solidFill>
                <a:latin typeface="Calibri"/>
              </a:rPr>
              <a:t>• Target Categories: Settlements (~40%) and Soundbox (~25%) represent 65% of all incoming ticket volume.</a:t>
            </a:r>
            <a:br/>
            <a:br/>
            <a:r>
              <a:rPr sz="1000" b="0">
                <a:solidFill>
                  <a:srgbClr val="F7F3EA"/>
                </a:solidFill>
                <a:latin typeface="Calibri"/>
              </a:rPr>
              <a:t>• Automated Resolution: Handling 70%+ of routine tickets autonomously deflects over 300,000 human calls monthly.</a:t>
            </a:r>
            <a:br/>
            <a:br/>
            <a:r>
              <a:rPr sz="1000" b="0">
                <a:solidFill>
                  <a:srgbClr val="F7F3EA"/>
                </a:solidFill>
                <a:latin typeface="Calibri"/>
              </a:rPr>
              <a:t>• Outcome-Based ROI: At ₹10 per autonomous resolution, Paytm achieves an immediate 6x cost saving compared to human agent handling.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536192"/>
            <a:ext cx="2980944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2. Revenue Growth (Earn)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00BAF2"/>
                </a:solidFill>
                <a:latin typeface="Calibri"/>
              </a:defRPr>
            </a:pPr>
            <a:r>
              <a:rPr sz="1050" b="1">
                <a:solidFill>
                  <a:srgbClr val="00BAF2"/>
                </a:solidFill>
                <a:latin typeface="Calibri"/>
              </a:rPr>
              <a:t>Turning Cost Centers into Profit Engines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F7F3EA"/>
                </a:solidFill>
                <a:latin typeface="Calibri"/>
              </a:defRPr>
            </a:pPr>
            <a:r>
              <a:rPr sz="1000" b="0">
                <a:solidFill>
                  <a:srgbClr val="F7F3EA"/>
                </a:solidFill>
                <a:latin typeface="Calibri"/>
              </a:rPr>
              <a:t>• Proactive EMI Recovery: Delivering UPI payment links during routine calls reduces loan defaults by up to 18%.</a:t>
            </a:r>
            <a:br/>
            <a:br/>
            <a:r>
              <a:rPr sz="1000" b="0">
                <a:solidFill>
                  <a:srgbClr val="F7F3EA"/>
                </a:solidFill>
                <a:latin typeface="Calibri"/>
              </a:rPr>
              <a:t>• Soundbox Retention: Immediate dispatch of replacement hardware eliminates merchant churn and protects ₹125/mo subscription revenue.</a:t>
            </a:r>
            <a:br/>
            <a:br/>
            <a:r>
              <a:rPr sz="1000" b="0">
                <a:solidFill>
                  <a:srgbClr val="F7F3EA"/>
                </a:solidFill>
                <a:latin typeface="Calibri"/>
              </a:rPr>
              <a:t>• Contextual Cross-Sell: Pre-approved merchant loan offers surfaced when merchant cash flows are high.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0D1B33"/>
          </a:solidFill>
          <a:ln w="15240">
            <a:solidFill>
              <a:srgbClr val="2A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536192"/>
            <a:ext cx="2980944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A961"/>
                </a:solidFill>
                <a:latin typeface="Calibri"/>
              </a:defRPr>
            </a:pPr>
            <a:r>
              <a:rPr sz="1400" b="1">
                <a:solidFill>
                  <a:srgbClr val="C9A961"/>
                </a:solidFill>
                <a:latin typeface="Calibri"/>
              </a:rPr>
              <a:t>3. Phased Rollout Plan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00BAF2"/>
                </a:solidFill>
                <a:latin typeface="Calibri"/>
              </a:defRPr>
            </a:pPr>
            <a:r>
              <a:rPr sz="1050" b="1">
                <a:solidFill>
                  <a:srgbClr val="00BAF2"/>
                </a:solidFill>
                <a:latin typeface="Calibri"/>
              </a:rPr>
              <a:t>Pragmatic, Low-Risk Enterprise Deployment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F7F3EA"/>
                </a:solidFill>
                <a:latin typeface="Calibri"/>
              </a:defRPr>
            </a:pPr>
            <a:r>
              <a:rPr sz="1000" b="0">
                <a:solidFill>
                  <a:srgbClr val="F7F3EA"/>
                </a:solidFill>
                <a:latin typeface="Calibri"/>
              </a:rPr>
              <a:t>• Phase 1 (Weeks 1-4): Shadow pilot on 10,000 Bengaluru merchants for Settlement + Soundbox queries.</a:t>
            </a:r>
            <a:br/>
            <a:br/>
            <a:r>
              <a:rPr sz="1000" b="0">
                <a:solidFill>
                  <a:srgbClr val="F7F3EA"/>
                </a:solidFill>
                <a:latin typeface="Calibri"/>
              </a:rPr>
              <a:t>• Phase 2 (Weeks 5-8): Expand to Kannada &amp; Hindi voice intake with human approval required on retries &gt; ₹25,000.</a:t>
            </a:r>
            <a:br/>
            <a:br/>
            <a:r>
              <a:rPr sz="1000" b="0">
                <a:solidFill>
                  <a:srgbClr val="F7F3EA"/>
                </a:solidFill>
                <a:latin typeface="Calibri"/>
              </a:rPr>
              <a:t>• Phase 3 (Weeks 9-12): Full nationwide deployment with ₹50,000 autonomous ceiling and proactive EMI collection.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hayakLuxe">
  <a:themeElements>
    <a:clrScheme name="SahayakLuxe">
      <a:dk1>
        <a:srgbClr val="06101F"/>
      </a:dk1>
      <a:lt1>
        <a:srgbClr val="F7F3EA"/>
      </a:lt1>
      <a:dk2>
        <a:srgbClr val="0D1B33"/>
      </a:dk2>
      <a:lt2>
        <a:srgbClr val="E9E2D0"/>
      </a:lt2>
      <a:accent1>
        <a:srgbClr val="C9A961"/>
      </a:accent1>
      <a:accent2>
        <a:srgbClr val="00BAF2"/>
      </a:accent2>
      <a:accent3>
        <a:srgbClr val="1BA672"/>
      </a:accent3>
      <a:accent4>
        <a:srgbClr val="D64550"/>
      </a:accent4>
      <a:accent5>
        <a:srgbClr val="8EA0BA"/>
      </a:accent5>
      <a:accent6>
        <a:srgbClr val="F2D98D"/>
      </a:accent6>
      <a:hlink>
        <a:srgbClr val="00BAF2"/>
      </a:hlink>
      <a:folHlink>
        <a:srgbClr val="8EA0BA"/>
      </a:folHlink>
    </a:clrScheme>
    <a:fontScheme name="SahayakLux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1283</Words>
  <Application>Microsoft Office PowerPoint</Application>
  <PresentationFormat>Widescreen</PresentationFormat>
  <Paragraphs>148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SahayakLuxe</vt:lpstr>
      <vt:lpstr>Sahayak</vt:lpstr>
      <vt:lpstr>Merchant servicing is breaking under its own weight — and more agents is not the answer.</vt:lpstr>
      <vt:lpstr>One AI teammate — end-to-end ownership across customer service AND sales.</vt:lpstr>
      <vt:lpstr>Five layers — Sarvam AI at the voice, safety at the core, six Paytm systems in scope.</vt:lpstr>
      <vt:lpstr>It acts across systems. It's safe. It escalates like a teammate. And it covers sales too.</vt:lpstr>
      <vt:lpstr>Measurable outcomes for merchants, Paytm, and support teams — across CS and Sales.</vt:lpstr>
      <vt:lpstr>A model that saves ₹339 Cr, protects merchant revenue, and scales beyond Paytm.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Sahayak - Paytm Power Rangers</dc:title>
  <dc:subject>PptxGenJS Presentation</dc:subject>
  <dc:creator>Paytm Power Rangers</dc:creator>
  <cp:lastModifiedBy>Radhika Tenali</cp:lastModifiedBy>
  <cp:revision>17</cp:revision>
  <dcterms:created xsi:type="dcterms:W3CDTF">2026-10-26T09:39:36Z</dcterms:created>
  <dcterms:modified xsi:type="dcterms:W3CDTF">2026-10-26T17:22:15Z</dcterms:modified>
</cp:coreProperties>
</file>